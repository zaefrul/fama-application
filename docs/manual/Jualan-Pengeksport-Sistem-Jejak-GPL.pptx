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Buka dengan pembeli. Pengeksport mahu satu kod yang dikongsi ladang, pemborong, pengimport, dan kedai. Jangan mula dengan skrin pegawai FAMA. Lima slaid seterusnya ialah peranan. Selepas itu, demo skrin.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Pengeluar ialah Ladang Contoh Hijau, Aminah Contoh. Lot tembikai bermula di sini, GPL-QR-001126. Jangan cipta permohonan baharu.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slaid anda. Akaun demo: Farid Contoh, Niaga Contoh Eksport. Sembilan QR aktif pada utama datang dari jualan yang diterima, bukan dari permohonan Farid sendiri.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Pemborong demo ialah Borong Contoh Segar, Lina Contoh. Sebelum Diterima, halaman awam berkata QR menunggu penerimaan. Jangan tekan Diterima pada lot contoh.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Pengimport demo ialah Import Contoh Niaga, Hafiz Contoh. Pada borang Eksport, medan pengimport wajib. Domestik menyembunyikan medan itu.</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Peruncit demo ialah Kedai Contoh Runcit, Suri Contoh. Penerimaan antara syarikat kekal dalam Jualan. QR awam untuk pembeli di hujung.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Muka demo ialah Farid Contoh, Niaga Contoh Eksport. Status permohonan yang sudah disediakan ialah ABC Fruits. Rantaian tembikai ialah syarikat Contoh. Jangan simpan, hantar, lulus, tolak, pecah lot, atau tekan Simpan jualan.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Toggle mesti USAHAWAN. Emel farid.contoh@example.com. Kata laluan Exporter123!. Jangan tekan Daftar.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Farid Contoh. Sembilan QR aktif datang dari jualan diterima. Jumlah permohonan Farid ialah kosong. Jangan cipta permohonan.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Niaga Contoh Eksport Sdn. Bhd., no. pendaftaran NE2222. Jangan tekan Simpan.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Skrin contoh ini ABC Fruits: Durian, Manggis, Nangka. Jangan tambah atau buang.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 fitosanitari, HACCP, dan Halal pada contoh ABC Fruits. Jangan muat naik atau buang.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Galeri Ladang Contoh Hijau, Aminah Contoh. Jangan muat naik atau buang gambar.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Senarai ABC Fruits. Tunjuk empat status. Jangan edit.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FAMA-2026-000124, Nangka Tekam Yellow. Jangan simpan atau hantar.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FAMA-2026-000123, Durian Musang King. Tiada skrin pegawai dalam dek ini. Jangan minta Sahkan.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FAMA-2026-000015, Mangga Harumanis, destinasi Jepun, pengimport Tokyo Fresh Co. Jangan ubah rekod.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FAMA-2026-000011, Mangga Chokanan. Sebab ada pada keputusan. Jangan ubah.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Tunjuk dua pilihan. Jangan teruskan sehingga borang diisi jika masa singkat.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Skrin berkata QR tidak aktifkan semasa draf. Medan pengimport ada pada langkah seterusnya untuk Eksport. Jangan simpan.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ABC Fruits. GPL-QR-000015 Aktif. GPL-QR-000123 dan GPL-QR-000011 Belum Aktif. Jangan jana kod baharu.</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GPL-QR-000015, Mangga Harumanis, Tokyo Fresh Co. Jangan muat turun jika hanya menunjuk.</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Saiz 5 cm, format PNG pada contoh. Pautan jejak GPL-QR-000015. Muat turun pilihan.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Halaman awam GPL-QR-000123. Produk, ladang, dan pengimport disembunyikan.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Tembikai Merah. Bahasa BM, EN, dan 中文. Data akaun tidak ada pada halaman ini.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GPL-QR-001130, hujung rantaian tembikai. Pemegang kod ini Kedai Contoh Runcit. Kad peruncit berada di tepi lajur.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Dibuka sebagai Aminah Contoh, pengeluar, pada GPL-QR-001126. Niaga Contoh Eksport ada pada garisan. Jangan simpan jualan.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Garisan: Pengeluar, Pengeksport, Pemborong, Pengimport, Peruncit. Jangan pecah lot demo GPL-QR-001126 hingga GPL-QR-001130.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ABC Fruits menunjukkan APPLICATION_SUBMITTED. Jejak audit FAMA tidak ada dalam dek ini.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pada pengeksport. Satu kod dibawa pengeluar, pengeksport, pemborong, pengimport, dan peruncit. Pembeli imbas QR yang aktif. Jangan buka skrin pegawai.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6B4C"/>
          </a:solidFill>
          <a:ln>
            <a:noFill/>
          </a:ln>
        </p:spPr>
        <p:txBody>
          <a:bodyPr rtlCol="0" anchor="ctr"/>
          <a:lstStyle/>
          <a:p>
            <a:pPr algn="ctr"/>
          </a:p>
        </p:txBody>
      </p:sp>
      <p:sp>
        <p:nvSpPr>
          <p:cNvPr id="3" name="TextBox 2"/>
          <p:cNvSpPr txBox="1"/>
          <p:nvPr/>
        </p:nvSpPr>
        <p:spPr>
          <a:xfrm>
            <a:off x="777240" y="1554480"/>
            <a:ext cx="10515600" cy="365760"/>
          </a:xfrm>
          <a:prstGeom prst="rect">
            <a:avLst/>
          </a:prstGeom>
          <a:noFill/>
        </p:spPr>
        <p:txBody>
          <a:bodyPr wrap="square" lIns="0" rIns="0" tIns="0" bIns="0" anchor="t"/>
          <a:lstStyle/>
          <a:p>
            <a:pPr algn="l">
              <a:spcBef>
                <a:spcPts val="0"/>
              </a:spcBef>
              <a:spcAft>
                <a:spcPts val="0"/>
              </a:spcAft>
            </a:pPr>
            <a:r>
              <a:rPr sz="1600" b="1">
                <a:solidFill>
                  <a:srgbClr val="D5E8DF"/>
                </a:solidFill>
                <a:latin typeface="Calibri"/>
              </a:rPr>
              <a:t>SISTEM JEJAK GPL</a:t>
            </a:r>
          </a:p>
        </p:txBody>
      </p:sp>
      <p:sp>
        <p:nvSpPr>
          <p:cNvPr id="4" name="TextBox 3"/>
          <p:cNvSpPr txBox="1"/>
          <p:nvPr/>
        </p:nvSpPr>
        <p:spPr>
          <a:xfrm>
            <a:off x="777240" y="1965960"/>
            <a:ext cx="10515600" cy="1005840"/>
          </a:xfrm>
          <a:prstGeom prst="rect">
            <a:avLst/>
          </a:prstGeom>
          <a:noFill/>
        </p:spPr>
        <p:txBody>
          <a:bodyPr wrap="square" lIns="0" rIns="0" tIns="0" bIns="0" anchor="t"/>
          <a:lstStyle/>
          <a:p>
            <a:pPr algn="l">
              <a:spcBef>
                <a:spcPts val="0"/>
              </a:spcBef>
              <a:spcAft>
                <a:spcPts val="0"/>
              </a:spcAft>
            </a:pPr>
            <a:r>
              <a:rPr sz="4800" b="1">
                <a:solidFill>
                  <a:srgbClr val="FFFFFF"/>
                </a:solidFill>
                <a:latin typeface="Calibri"/>
              </a:rPr>
              <a:t>Untuk pengeksport</a:t>
            </a:r>
          </a:p>
        </p:txBody>
      </p:sp>
      <p:sp>
        <p:nvSpPr>
          <p:cNvPr id="5" name="TextBox 4"/>
          <p:cNvSpPr txBox="1"/>
          <p:nvPr/>
        </p:nvSpPr>
        <p:spPr>
          <a:xfrm>
            <a:off x="777240" y="3063240"/>
            <a:ext cx="10058400" cy="731520"/>
          </a:xfrm>
          <a:prstGeom prst="rect">
            <a:avLst/>
          </a:prstGeom>
          <a:noFill/>
        </p:spPr>
        <p:txBody>
          <a:bodyPr wrap="square" lIns="0" rIns="0" tIns="0" bIns="0" anchor="t"/>
          <a:lstStyle/>
          <a:p>
            <a:pPr algn="l">
              <a:spcBef>
                <a:spcPts val="0"/>
              </a:spcBef>
              <a:spcAft>
                <a:spcPts val="0"/>
              </a:spcAft>
            </a:pPr>
            <a:r>
              <a:rPr sz="2400" b="0">
                <a:solidFill>
                  <a:srgbClr val="FFFFFF"/>
                </a:solidFill>
                <a:latin typeface="Calibri"/>
              </a:rPr>
              <a:t>Satu kod, dari ladang sampai ke pembeli.</a:t>
            </a:r>
          </a:p>
        </p:txBody>
      </p:sp>
      <p:sp>
        <p:nvSpPr>
          <p:cNvPr id="6" name="Rounded Rectangle 5"/>
          <p:cNvSpPr/>
          <p:nvPr/>
        </p:nvSpPr>
        <p:spPr>
          <a:xfrm>
            <a:off x="774039" y="5349240"/>
            <a:ext cx="2011680" cy="713232"/>
          </a:xfrm>
          <a:prstGeom prst="roundRect">
            <a:avLst>
              <a:gd name="adj" fmla="val 20000"/>
            </a:avLst>
          </a:prstGeom>
          <a:noFill/>
          <a:ln w="19050">
            <a:solidFill>
              <a:srgbClr val="9FD0BB"/>
            </a:solidFill>
          </a:ln>
        </p:spPr>
        <p:txBody>
          <a:bodyPr rtlCol="0" anchor="ctr"/>
          <a:lstStyle/>
          <a:p>
            <a:pPr algn="ctr"/>
          </a:p>
        </p:txBody>
      </p:sp>
      <p:sp>
        <p:nvSpPr>
          <p:cNvPr id="7" name="TextBox 6"/>
          <p:cNvSpPr txBox="1"/>
          <p:nvPr/>
        </p:nvSpPr>
        <p:spPr>
          <a:xfrm>
            <a:off x="847191" y="534924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Pengeluar</a:t>
            </a:r>
          </a:p>
        </p:txBody>
      </p:sp>
      <p:sp>
        <p:nvSpPr>
          <p:cNvPr id="8" name="Rounded Rectangle 7"/>
          <p:cNvSpPr/>
          <p:nvPr/>
        </p:nvSpPr>
        <p:spPr>
          <a:xfrm>
            <a:off x="2932023" y="5349240"/>
            <a:ext cx="2011680" cy="713232"/>
          </a:xfrm>
          <a:prstGeom prst="roundRect">
            <a:avLst>
              <a:gd name="adj" fmla="val 20000"/>
            </a:avLst>
          </a:prstGeom>
          <a:solidFill>
            <a:srgbClr val="FFFFFF"/>
          </a:solidFill>
          <a:ln>
            <a:noFill/>
          </a:ln>
        </p:spPr>
        <p:txBody>
          <a:bodyPr rtlCol="0" anchor="ctr"/>
          <a:lstStyle/>
          <a:p>
            <a:pPr algn="ctr"/>
          </a:p>
        </p:txBody>
      </p:sp>
      <p:sp>
        <p:nvSpPr>
          <p:cNvPr id="9" name="TextBox 8"/>
          <p:cNvSpPr txBox="1"/>
          <p:nvPr/>
        </p:nvSpPr>
        <p:spPr>
          <a:xfrm>
            <a:off x="3005175" y="5349240"/>
            <a:ext cx="1865376" cy="713232"/>
          </a:xfrm>
          <a:prstGeom prst="rect">
            <a:avLst/>
          </a:prstGeom>
          <a:noFill/>
        </p:spPr>
        <p:txBody>
          <a:bodyPr wrap="square" lIns="0" rIns="0" tIns="0" bIns="0" anchor="ctr"/>
          <a:lstStyle/>
          <a:p>
            <a:pPr algn="ctr">
              <a:spcBef>
                <a:spcPts val="0"/>
              </a:spcBef>
              <a:spcAft>
                <a:spcPts val="0"/>
              </a:spcAft>
            </a:pPr>
            <a:r>
              <a:rPr sz="1500" b="1">
                <a:solidFill>
                  <a:srgbClr val="0F6B4C"/>
                </a:solidFill>
                <a:latin typeface="Calibri"/>
              </a:rPr>
              <a:t>Pengeksport</a:t>
            </a:r>
          </a:p>
          <a:p>
            <a:pPr algn="ctr">
              <a:spcBef>
                <a:spcPts val="0"/>
              </a:spcBef>
              <a:spcAft>
                <a:spcPts val="0"/>
              </a:spcAft>
            </a:pPr>
            <a:r>
              <a:rPr sz="1100" b="1">
                <a:solidFill>
                  <a:srgbClr val="0F6B4C"/>
                </a:solidFill>
                <a:latin typeface="Calibri"/>
              </a:rPr>
              <a:t>Anda</a:t>
            </a:r>
          </a:p>
        </p:txBody>
      </p:sp>
      <p:sp>
        <p:nvSpPr>
          <p:cNvPr id="10" name="Rounded Rectangle 9"/>
          <p:cNvSpPr/>
          <p:nvPr/>
        </p:nvSpPr>
        <p:spPr>
          <a:xfrm>
            <a:off x="5090007" y="5349240"/>
            <a:ext cx="2011680" cy="713232"/>
          </a:xfrm>
          <a:prstGeom prst="roundRect">
            <a:avLst>
              <a:gd name="adj" fmla="val 20000"/>
            </a:avLst>
          </a:prstGeom>
          <a:noFill/>
          <a:ln w="19050">
            <a:solidFill>
              <a:srgbClr val="9FD0BB"/>
            </a:solidFill>
          </a:ln>
        </p:spPr>
        <p:txBody>
          <a:bodyPr rtlCol="0" anchor="ctr"/>
          <a:lstStyle/>
          <a:p>
            <a:pPr algn="ctr"/>
          </a:p>
        </p:txBody>
      </p:sp>
      <p:sp>
        <p:nvSpPr>
          <p:cNvPr id="11" name="TextBox 10"/>
          <p:cNvSpPr txBox="1"/>
          <p:nvPr/>
        </p:nvSpPr>
        <p:spPr>
          <a:xfrm>
            <a:off x="5163159" y="534924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Pemborong</a:t>
            </a:r>
          </a:p>
        </p:txBody>
      </p:sp>
      <p:sp>
        <p:nvSpPr>
          <p:cNvPr id="12" name="Rounded Rectangle 11"/>
          <p:cNvSpPr/>
          <p:nvPr/>
        </p:nvSpPr>
        <p:spPr>
          <a:xfrm>
            <a:off x="7247991" y="5349240"/>
            <a:ext cx="2011680" cy="713232"/>
          </a:xfrm>
          <a:prstGeom prst="roundRect">
            <a:avLst>
              <a:gd name="adj" fmla="val 20000"/>
            </a:avLst>
          </a:prstGeom>
          <a:noFill/>
          <a:ln w="19050">
            <a:solidFill>
              <a:srgbClr val="9FD0BB"/>
            </a:solidFill>
          </a:ln>
        </p:spPr>
        <p:txBody>
          <a:bodyPr rtlCol="0" anchor="ctr"/>
          <a:lstStyle/>
          <a:p>
            <a:pPr algn="ctr"/>
          </a:p>
        </p:txBody>
      </p:sp>
      <p:sp>
        <p:nvSpPr>
          <p:cNvPr id="13" name="TextBox 12"/>
          <p:cNvSpPr txBox="1"/>
          <p:nvPr/>
        </p:nvSpPr>
        <p:spPr>
          <a:xfrm>
            <a:off x="7321143" y="534924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Pengimport</a:t>
            </a:r>
          </a:p>
        </p:txBody>
      </p:sp>
      <p:sp>
        <p:nvSpPr>
          <p:cNvPr id="14" name="Rounded Rectangle 13"/>
          <p:cNvSpPr/>
          <p:nvPr/>
        </p:nvSpPr>
        <p:spPr>
          <a:xfrm>
            <a:off x="9405975" y="5349240"/>
            <a:ext cx="2011680" cy="713232"/>
          </a:xfrm>
          <a:prstGeom prst="roundRect">
            <a:avLst>
              <a:gd name="adj" fmla="val 20000"/>
            </a:avLst>
          </a:prstGeom>
          <a:noFill/>
          <a:ln w="19050">
            <a:solidFill>
              <a:srgbClr val="9FD0BB"/>
            </a:solidFill>
          </a:ln>
        </p:spPr>
        <p:txBody>
          <a:bodyPr rtlCol="0" anchor="ctr"/>
          <a:lstStyle/>
          <a:p>
            <a:pPr algn="ctr"/>
          </a:p>
        </p:txBody>
      </p:sp>
      <p:sp>
        <p:nvSpPr>
          <p:cNvPr id="15" name="TextBox 14"/>
          <p:cNvSpPr txBox="1"/>
          <p:nvPr/>
        </p:nvSpPr>
        <p:spPr>
          <a:xfrm>
            <a:off x="9479127" y="534924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Peruncit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TextBox 2"/>
          <p:cNvSpPr txBox="1"/>
          <p:nvPr/>
        </p:nvSpPr>
        <p:spPr>
          <a:xfrm>
            <a:off x="566928" y="457200"/>
            <a:ext cx="6583680" cy="292608"/>
          </a:xfrm>
          <a:prstGeom prst="rect">
            <a:avLst/>
          </a:prstGeom>
          <a:noFill/>
        </p:spPr>
        <p:txBody>
          <a:bodyPr wrap="square" lIns="0" rIns="0" tIns="0" bIns="0" anchor="t"/>
          <a:lstStyle/>
          <a:p>
            <a:pPr algn="l">
              <a:spcBef>
                <a:spcPts val="0"/>
              </a:spcBef>
              <a:spcAft>
                <a:spcPts val="0"/>
              </a:spcAft>
            </a:pPr>
            <a:r>
              <a:rPr sz="1300" b="1">
                <a:solidFill>
                  <a:srgbClr val="0F6B4C"/>
                </a:solidFill>
                <a:latin typeface="Calibri"/>
              </a:rPr>
              <a:t>UNTUK PENGEKSPORT</a:t>
            </a:r>
          </a:p>
        </p:txBody>
      </p:sp>
      <p:sp>
        <p:nvSpPr>
          <p:cNvPr id="4" name="TextBox 3"/>
          <p:cNvSpPr txBox="1"/>
          <p:nvPr/>
        </p:nvSpPr>
        <p:spPr>
          <a:xfrm>
            <a:off x="566928" y="868680"/>
            <a:ext cx="6583680" cy="731520"/>
          </a:xfrm>
          <a:prstGeom prst="rect">
            <a:avLst/>
          </a:prstGeom>
          <a:noFill/>
        </p:spPr>
        <p:txBody>
          <a:bodyPr wrap="square" lIns="0" rIns="0" tIns="0" bIns="0" anchor="t"/>
          <a:lstStyle/>
          <a:p>
            <a:pPr algn="l">
              <a:spcBef>
                <a:spcPts val="0"/>
              </a:spcBef>
              <a:spcAft>
                <a:spcPts val="0"/>
              </a:spcAft>
            </a:pPr>
            <a:r>
              <a:rPr sz="4000" b="1">
                <a:solidFill>
                  <a:srgbClr val="14241D"/>
                </a:solidFill>
                <a:latin typeface="Calibri"/>
              </a:rPr>
              <a:t>Pengeluar</a:t>
            </a:r>
          </a:p>
        </p:txBody>
      </p:sp>
      <p:sp>
        <p:nvSpPr>
          <p:cNvPr id="5" name="TextBox 4"/>
          <p:cNvSpPr txBox="1"/>
          <p:nvPr/>
        </p:nvSpPr>
        <p:spPr>
          <a:xfrm>
            <a:off x="566928" y="1737360"/>
            <a:ext cx="6537960" cy="1234440"/>
          </a:xfrm>
          <a:prstGeom prst="rect">
            <a:avLst/>
          </a:prstGeom>
          <a:noFill/>
        </p:spPr>
        <p:txBody>
          <a:bodyPr wrap="square" lIns="0" rIns="0" tIns="0" bIns="0" anchor="t"/>
          <a:lstStyle/>
          <a:p>
            <a:pPr algn="l">
              <a:spcBef>
                <a:spcPts val="0"/>
              </a:spcBef>
              <a:spcAft>
                <a:spcPts val="0"/>
              </a:spcAft>
            </a:pPr>
            <a:r>
              <a:rPr sz="2000" b="0">
                <a:solidFill>
                  <a:srgbClr val="14241D"/>
                </a:solidFill>
                <a:latin typeface="Calibri"/>
              </a:rPr>
              <a:t>Lot bermula di ladang. Nama ladang, kuantiti, dan kod asal ada sebelum pengeksport terima.</a:t>
            </a:r>
          </a:p>
        </p:txBody>
      </p:sp>
      <p:sp>
        <p:nvSpPr>
          <p:cNvPr id="6" name="Rounded Rectangle 5"/>
          <p:cNvSpPr/>
          <p:nvPr/>
        </p:nvSpPr>
        <p:spPr>
          <a:xfrm>
            <a:off x="621792" y="3273552"/>
            <a:ext cx="146304" cy="146304"/>
          </a:xfrm>
          <a:prstGeom prst="roundRect">
            <a:avLst>
              <a:gd name="adj" fmla="val 40000"/>
            </a:avLst>
          </a:prstGeom>
          <a:solidFill>
            <a:srgbClr val="0F6B4C"/>
          </a:solidFill>
          <a:ln>
            <a:noFill/>
          </a:ln>
        </p:spPr>
        <p:txBody>
          <a:bodyPr rtlCol="0" anchor="ctr"/>
          <a:lstStyle/>
          <a:p>
            <a:pPr algn="ctr"/>
          </a:p>
        </p:txBody>
      </p:sp>
      <p:sp>
        <p:nvSpPr>
          <p:cNvPr id="7" name="TextBox 6"/>
          <p:cNvSpPr txBox="1"/>
          <p:nvPr/>
        </p:nvSpPr>
        <p:spPr>
          <a:xfrm>
            <a:off x="960120" y="312724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Profil, keluaran, dan sijil disimpan pada syarikat ladang.</a:t>
            </a:r>
          </a:p>
        </p:txBody>
      </p:sp>
      <p:sp>
        <p:nvSpPr>
          <p:cNvPr id="8" name="Rounded Rectangle 7"/>
          <p:cNvSpPr/>
          <p:nvPr/>
        </p:nvSpPr>
        <p:spPr>
          <a:xfrm>
            <a:off x="621792" y="4233672"/>
            <a:ext cx="146304" cy="146304"/>
          </a:xfrm>
          <a:prstGeom prst="roundRect">
            <a:avLst>
              <a:gd name="adj" fmla="val 40000"/>
            </a:avLst>
          </a:prstGeom>
          <a:solidFill>
            <a:srgbClr val="0F6B4C"/>
          </a:solidFill>
          <a:ln>
            <a:noFill/>
          </a:ln>
        </p:spPr>
        <p:txBody>
          <a:bodyPr rtlCol="0" anchor="ctr"/>
          <a:lstStyle/>
          <a:p>
            <a:pPr algn="ctr"/>
          </a:p>
        </p:txBody>
      </p:sp>
      <p:sp>
        <p:nvSpPr>
          <p:cNvPr id="9" name="TextBox 8"/>
          <p:cNvSpPr txBox="1"/>
          <p:nvPr/>
        </p:nvSpPr>
        <p:spPr>
          <a:xfrm>
            <a:off x="960120" y="408736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Kod QR akar lahir bersama permohonan.</a:t>
            </a:r>
          </a:p>
        </p:txBody>
      </p:sp>
      <p:sp>
        <p:nvSpPr>
          <p:cNvPr id="10" name="Rounded Rectangle 9"/>
          <p:cNvSpPr/>
          <p:nvPr/>
        </p:nvSpPr>
        <p:spPr>
          <a:xfrm>
            <a:off x="621792" y="5193792"/>
            <a:ext cx="146304" cy="146304"/>
          </a:xfrm>
          <a:prstGeom prst="roundRect">
            <a:avLst>
              <a:gd name="adj" fmla="val 40000"/>
            </a:avLst>
          </a:prstGeom>
          <a:solidFill>
            <a:srgbClr val="0F6B4C"/>
          </a:solidFill>
          <a:ln>
            <a:noFill/>
          </a:ln>
        </p:spPr>
        <p:txBody>
          <a:bodyPr rtlCol="0" anchor="ctr"/>
          <a:lstStyle/>
          <a:p>
            <a:pPr algn="ctr"/>
          </a:p>
        </p:txBody>
      </p:sp>
      <p:sp>
        <p:nvSpPr>
          <p:cNvPr id="11" name="TextBox 10"/>
          <p:cNvSpPr txBox="1"/>
          <p:nvPr/>
        </p:nvSpPr>
        <p:spPr>
          <a:xfrm>
            <a:off x="960120" y="504748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Jualan hanya ke jenis yang sama atau ke hilir.</a:t>
            </a:r>
          </a:p>
        </p:txBody>
      </p:sp>
      <p:sp>
        <p:nvSpPr>
          <p:cNvPr id="12" name="Rounded Rectangle 11"/>
          <p:cNvSpPr/>
          <p:nvPr/>
        </p:nvSpPr>
        <p:spPr>
          <a:xfrm>
            <a:off x="7452360" y="438912"/>
            <a:ext cx="4224528" cy="5980176"/>
          </a:xfrm>
          <a:prstGeom prst="roundRect">
            <a:avLst>
              <a:gd name="adj" fmla="val 8000"/>
            </a:avLst>
          </a:prstGeom>
          <a:solidFill>
            <a:srgbClr val="E7F0EB"/>
          </a:solidFill>
          <a:ln>
            <a:noFill/>
          </a:ln>
        </p:spPr>
        <p:txBody>
          <a:bodyPr rtlCol="0" anchor="ctr"/>
          <a:lstStyle/>
          <a:p>
            <a:pPr algn="ctr"/>
          </a:p>
        </p:txBody>
      </p:sp>
      <p:sp>
        <p:nvSpPr>
          <p:cNvPr id="13" name="TextBox 12"/>
          <p:cNvSpPr txBox="1"/>
          <p:nvPr/>
        </p:nvSpPr>
        <p:spPr>
          <a:xfrm>
            <a:off x="7708392" y="640080"/>
            <a:ext cx="3767328" cy="640080"/>
          </a:xfrm>
          <a:prstGeom prst="rect">
            <a:avLst/>
          </a:prstGeom>
          <a:noFill/>
        </p:spPr>
        <p:txBody>
          <a:bodyPr wrap="square" lIns="0" rIns="0" tIns="0" bIns="0" anchor="t"/>
          <a:lstStyle/>
          <a:p>
            <a:pPr algn="l">
              <a:spcBef>
                <a:spcPts val="0"/>
              </a:spcBef>
              <a:spcAft>
                <a:spcPts val="200"/>
              </a:spcAft>
            </a:pPr>
            <a:r>
              <a:rPr sz="1200" b="1">
                <a:solidFill>
                  <a:srgbClr val="0F6B4C"/>
                </a:solidFill>
                <a:latin typeface="Calibri"/>
              </a:rPr>
              <a:t>RANTAIAN</a:t>
            </a:r>
          </a:p>
          <a:p>
            <a:pPr algn="l">
              <a:spcBef>
                <a:spcPts val="0"/>
              </a:spcBef>
              <a:spcAft>
                <a:spcPts val="0"/>
              </a:spcAft>
            </a:pPr>
            <a:r>
              <a:rPr sz="1400" b="0">
                <a:solidFill>
                  <a:srgbClr val="5B6B63"/>
                </a:solidFill>
                <a:latin typeface="Calibri"/>
              </a:rPr>
              <a:t>Dari ladang ke kedai</a:t>
            </a:r>
          </a:p>
        </p:txBody>
      </p:sp>
      <p:sp>
        <p:nvSpPr>
          <p:cNvPr id="14" name="Rounded Rectangle 13"/>
          <p:cNvSpPr/>
          <p:nvPr/>
        </p:nvSpPr>
        <p:spPr>
          <a:xfrm>
            <a:off x="7708392" y="1490472"/>
            <a:ext cx="3712464" cy="786384"/>
          </a:xfrm>
          <a:prstGeom prst="roundRect">
            <a:avLst>
              <a:gd name="adj" fmla="val 18000"/>
            </a:avLst>
          </a:prstGeom>
          <a:solidFill>
            <a:srgbClr val="0F6B4C"/>
          </a:solidFill>
          <a:ln>
            <a:noFill/>
          </a:ln>
        </p:spPr>
        <p:txBody>
          <a:bodyPr rtlCol="0" anchor="ctr"/>
          <a:lstStyle/>
          <a:p>
            <a:pPr algn="ctr"/>
          </a:p>
        </p:txBody>
      </p:sp>
      <p:sp>
        <p:nvSpPr>
          <p:cNvPr id="15" name="TextBox 14"/>
          <p:cNvSpPr txBox="1"/>
          <p:nvPr/>
        </p:nvSpPr>
        <p:spPr>
          <a:xfrm>
            <a:off x="7909560" y="1490472"/>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Pengeluar</a:t>
            </a:r>
          </a:p>
        </p:txBody>
      </p:sp>
      <p:sp>
        <p:nvSpPr>
          <p:cNvPr id="16" name="Rounded Rectangle 15"/>
          <p:cNvSpPr/>
          <p:nvPr/>
        </p:nvSpPr>
        <p:spPr>
          <a:xfrm>
            <a:off x="7708392" y="2386584"/>
            <a:ext cx="3712464" cy="786384"/>
          </a:xfrm>
          <a:prstGeom prst="roundRect">
            <a:avLst>
              <a:gd name="adj" fmla="val 18000"/>
            </a:avLst>
          </a:prstGeom>
          <a:solidFill>
            <a:srgbClr val="FFFFFF"/>
          </a:solidFill>
          <a:ln w="15875">
            <a:solidFill>
              <a:srgbClr val="0F6B4C"/>
            </a:solidFill>
          </a:ln>
        </p:spPr>
        <p:txBody>
          <a:bodyPr rtlCol="0" anchor="ctr"/>
          <a:lstStyle/>
          <a:p>
            <a:pPr algn="ctr"/>
          </a:p>
        </p:txBody>
      </p:sp>
      <p:sp>
        <p:nvSpPr>
          <p:cNvPr id="17" name="TextBox 16"/>
          <p:cNvSpPr txBox="1"/>
          <p:nvPr/>
        </p:nvSpPr>
        <p:spPr>
          <a:xfrm>
            <a:off x="7909560" y="2386584"/>
            <a:ext cx="3346704" cy="786384"/>
          </a:xfrm>
          <a:prstGeom prst="rect">
            <a:avLst/>
          </a:prstGeom>
          <a:noFill/>
        </p:spPr>
        <p:txBody>
          <a:bodyPr wrap="square" lIns="0" rIns="0" tIns="0" bIns="0" anchor="ctr"/>
          <a:lstStyle/>
          <a:p>
            <a:pPr algn="l">
              <a:spcBef>
                <a:spcPts val="0"/>
              </a:spcBef>
              <a:spcAft>
                <a:spcPts val="0"/>
              </a:spcAft>
            </a:pPr>
            <a:r>
              <a:rPr sz="1800" b="1">
                <a:solidFill>
                  <a:srgbClr val="0F6B4C"/>
                </a:solidFill>
                <a:latin typeface="Calibri"/>
              </a:rPr>
              <a:t>Pengeksport</a:t>
            </a:r>
          </a:p>
          <a:p>
            <a:pPr algn="l">
              <a:spcBef>
                <a:spcPts val="100"/>
              </a:spcBef>
              <a:spcAft>
                <a:spcPts val="0"/>
              </a:spcAft>
            </a:pPr>
            <a:r>
              <a:rPr sz="1200" b="1">
                <a:solidFill>
                  <a:srgbClr val="0F6B4C"/>
                </a:solidFill>
                <a:latin typeface="Calibri"/>
              </a:rPr>
              <a:t>Anda</a:t>
            </a:r>
          </a:p>
        </p:txBody>
      </p:sp>
      <p:sp>
        <p:nvSpPr>
          <p:cNvPr id="18" name="Rounded Rectangle 17"/>
          <p:cNvSpPr/>
          <p:nvPr/>
        </p:nvSpPr>
        <p:spPr>
          <a:xfrm>
            <a:off x="7708392" y="3282696"/>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19" name="TextBox 18"/>
          <p:cNvSpPr txBox="1"/>
          <p:nvPr/>
        </p:nvSpPr>
        <p:spPr>
          <a:xfrm>
            <a:off x="7909560" y="3282696"/>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Pemborong</a:t>
            </a:r>
          </a:p>
        </p:txBody>
      </p:sp>
      <p:sp>
        <p:nvSpPr>
          <p:cNvPr id="20" name="Rounded Rectangle 19"/>
          <p:cNvSpPr/>
          <p:nvPr/>
        </p:nvSpPr>
        <p:spPr>
          <a:xfrm>
            <a:off x="7708392" y="4178808"/>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21" name="TextBox 20"/>
          <p:cNvSpPr txBox="1"/>
          <p:nvPr/>
        </p:nvSpPr>
        <p:spPr>
          <a:xfrm>
            <a:off x="7909560" y="4178808"/>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Pengimport</a:t>
            </a:r>
          </a:p>
        </p:txBody>
      </p:sp>
      <p:sp>
        <p:nvSpPr>
          <p:cNvPr id="22" name="Rounded Rectangle 21"/>
          <p:cNvSpPr/>
          <p:nvPr/>
        </p:nvSpPr>
        <p:spPr>
          <a:xfrm>
            <a:off x="7708392" y="5074920"/>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23" name="TextBox 22"/>
          <p:cNvSpPr txBox="1"/>
          <p:nvPr/>
        </p:nvSpPr>
        <p:spPr>
          <a:xfrm>
            <a:off x="7909560" y="5074920"/>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Peruncit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6B4C"/>
          </a:solidFill>
          <a:ln>
            <a:noFill/>
          </a:ln>
        </p:spPr>
        <p:txBody>
          <a:bodyPr rtlCol="0" anchor="ctr"/>
          <a:lstStyle/>
          <a:p>
            <a:pPr algn="ctr"/>
          </a:p>
        </p:txBody>
      </p:sp>
      <p:sp>
        <p:nvSpPr>
          <p:cNvPr id="3" name="TextBox 2"/>
          <p:cNvSpPr txBox="1"/>
          <p:nvPr/>
        </p:nvSpPr>
        <p:spPr>
          <a:xfrm>
            <a:off x="566928" y="457200"/>
            <a:ext cx="6583680" cy="292608"/>
          </a:xfrm>
          <a:prstGeom prst="rect">
            <a:avLst/>
          </a:prstGeom>
          <a:noFill/>
        </p:spPr>
        <p:txBody>
          <a:bodyPr wrap="square" lIns="0" rIns="0" tIns="0" bIns="0" anchor="t"/>
          <a:lstStyle/>
          <a:p>
            <a:pPr algn="l">
              <a:spcBef>
                <a:spcPts val="0"/>
              </a:spcBef>
              <a:spcAft>
                <a:spcPts val="0"/>
              </a:spcAft>
            </a:pPr>
            <a:r>
              <a:rPr sz="1300" b="1">
                <a:solidFill>
                  <a:srgbClr val="D5E8DF"/>
                </a:solidFill>
                <a:latin typeface="Calibri"/>
              </a:rPr>
              <a:t>UNTUK PENGEKSPORT</a:t>
            </a:r>
          </a:p>
        </p:txBody>
      </p:sp>
      <p:sp>
        <p:nvSpPr>
          <p:cNvPr id="4" name="TextBox 3"/>
          <p:cNvSpPr txBox="1"/>
          <p:nvPr/>
        </p:nvSpPr>
        <p:spPr>
          <a:xfrm>
            <a:off x="566928" y="868680"/>
            <a:ext cx="6583680" cy="731520"/>
          </a:xfrm>
          <a:prstGeom prst="rect">
            <a:avLst/>
          </a:prstGeom>
          <a:noFill/>
        </p:spPr>
        <p:txBody>
          <a:bodyPr wrap="square" lIns="0" rIns="0" tIns="0" bIns="0" anchor="t"/>
          <a:lstStyle/>
          <a:p>
            <a:pPr algn="l">
              <a:spcBef>
                <a:spcPts val="0"/>
              </a:spcBef>
              <a:spcAft>
                <a:spcPts val="0"/>
              </a:spcAft>
            </a:pPr>
            <a:r>
              <a:rPr sz="4000" b="1">
                <a:solidFill>
                  <a:srgbClr val="FFFFFF"/>
                </a:solidFill>
                <a:latin typeface="Calibri"/>
              </a:rPr>
              <a:t>Pengeksport</a:t>
            </a:r>
          </a:p>
        </p:txBody>
      </p:sp>
      <p:sp>
        <p:nvSpPr>
          <p:cNvPr id="5" name="TextBox 4"/>
          <p:cNvSpPr txBox="1"/>
          <p:nvPr/>
        </p:nvSpPr>
        <p:spPr>
          <a:xfrm>
            <a:off x="566928" y="1737360"/>
            <a:ext cx="6537960" cy="1234440"/>
          </a:xfrm>
          <a:prstGeom prst="rect">
            <a:avLst/>
          </a:prstGeom>
          <a:noFill/>
        </p:spPr>
        <p:txBody>
          <a:bodyPr wrap="square" lIns="0" rIns="0" tIns="0" bIns="0" anchor="t"/>
          <a:lstStyle/>
          <a:p>
            <a:pPr algn="l">
              <a:spcBef>
                <a:spcPts val="0"/>
              </a:spcBef>
              <a:spcAft>
                <a:spcPts val="0"/>
              </a:spcAft>
            </a:pPr>
            <a:r>
              <a:rPr sz="2000" b="0">
                <a:solidFill>
                  <a:srgbClr val="FFFFFF"/>
                </a:solidFill>
                <a:latin typeface="Calibri"/>
              </a:rPr>
              <a:t>Anda pegang lot, mohon kelulusan FAMA, muat turun QR, dan jual baki ke hadapan.</a:t>
            </a:r>
          </a:p>
        </p:txBody>
      </p:sp>
      <p:sp>
        <p:nvSpPr>
          <p:cNvPr id="6" name="Rounded Rectangle 5"/>
          <p:cNvSpPr/>
          <p:nvPr/>
        </p:nvSpPr>
        <p:spPr>
          <a:xfrm>
            <a:off x="621792" y="3273552"/>
            <a:ext cx="146304" cy="146304"/>
          </a:xfrm>
          <a:prstGeom prst="roundRect">
            <a:avLst>
              <a:gd name="adj" fmla="val 40000"/>
            </a:avLst>
          </a:prstGeom>
          <a:solidFill>
            <a:srgbClr val="FFFFFF"/>
          </a:solidFill>
          <a:ln>
            <a:noFill/>
          </a:ln>
        </p:spPr>
        <p:txBody>
          <a:bodyPr rtlCol="0" anchor="ctr"/>
          <a:lstStyle/>
          <a:p>
            <a:pPr algn="ctr"/>
          </a:p>
        </p:txBody>
      </p:sp>
      <p:sp>
        <p:nvSpPr>
          <p:cNvPr id="7" name="TextBox 6"/>
          <p:cNvSpPr txBox="1"/>
          <p:nvPr/>
        </p:nvSpPr>
        <p:spPr>
          <a:xfrm>
            <a:off x="960120" y="3127248"/>
            <a:ext cx="6126480" cy="777240"/>
          </a:xfrm>
          <a:prstGeom prst="rect">
            <a:avLst/>
          </a:prstGeom>
          <a:noFill/>
        </p:spPr>
        <p:txBody>
          <a:bodyPr wrap="square" lIns="0" rIns="0" tIns="0" bIns="0" anchor="t"/>
          <a:lstStyle/>
          <a:p>
            <a:pPr algn="l">
              <a:spcBef>
                <a:spcPts val="0"/>
              </a:spcBef>
              <a:spcAft>
                <a:spcPts val="0"/>
              </a:spcAft>
            </a:pPr>
            <a:r>
              <a:rPr sz="1600" b="0">
                <a:solidFill>
                  <a:srgbClr val="FFFFFF"/>
                </a:solidFill>
                <a:latin typeface="Calibri"/>
              </a:rPr>
              <a:t>Isi syarikat, keluaran, dan sijil, kemudian hantar permohonan.</a:t>
            </a:r>
          </a:p>
        </p:txBody>
      </p:sp>
      <p:sp>
        <p:nvSpPr>
          <p:cNvPr id="8" name="Rounded Rectangle 7"/>
          <p:cNvSpPr/>
          <p:nvPr/>
        </p:nvSpPr>
        <p:spPr>
          <a:xfrm>
            <a:off x="621792" y="4233672"/>
            <a:ext cx="146304" cy="146304"/>
          </a:xfrm>
          <a:prstGeom prst="roundRect">
            <a:avLst>
              <a:gd name="adj" fmla="val 40000"/>
            </a:avLst>
          </a:prstGeom>
          <a:solidFill>
            <a:srgbClr val="FFFFFF"/>
          </a:solidFill>
          <a:ln>
            <a:noFill/>
          </a:ln>
        </p:spPr>
        <p:txBody>
          <a:bodyPr rtlCol="0" anchor="ctr"/>
          <a:lstStyle/>
          <a:p>
            <a:pPr algn="ctr"/>
          </a:p>
        </p:txBody>
      </p:sp>
      <p:sp>
        <p:nvSpPr>
          <p:cNvPr id="9" name="TextBox 8"/>
          <p:cNvSpPr txBox="1"/>
          <p:nvPr/>
        </p:nvSpPr>
        <p:spPr>
          <a:xfrm>
            <a:off x="960120" y="4087368"/>
            <a:ext cx="6126480" cy="777240"/>
          </a:xfrm>
          <a:prstGeom prst="rect">
            <a:avLst/>
          </a:prstGeom>
          <a:noFill/>
        </p:spPr>
        <p:txBody>
          <a:bodyPr wrap="square" lIns="0" rIns="0" tIns="0" bIns="0" anchor="t"/>
          <a:lstStyle/>
          <a:p>
            <a:pPr algn="l">
              <a:spcBef>
                <a:spcPts val="0"/>
              </a:spcBef>
              <a:spcAft>
                <a:spcPts val="0"/>
              </a:spcAft>
            </a:pPr>
            <a:r>
              <a:rPr sz="1600" b="0">
                <a:solidFill>
                  <a:srgbClr val="FFFFFF"/>
                </a:solidFill>
                <a:latin typeface="Calibri"/>
              </a:rPr>
              <a:t>Selepas QR Aktif, muat turun kod untuk label.</a:t>
            </a:r>
          </a:p>
        </p:txBody>
      </p:sp>
      <p:sp>
        <p:nvSpPr>
          <p:cNvPr id="10" name="Rounded Rectangle 9"/>
          <p:cNvSpPr/>
          <p:nvPr/>
        </p:nvSpPr>
        <p:spPr>
          <a:xfrm>
            <a:off x="621792" y="5193792"/>
            <a:ext cx="146304" cy="146304"/>
          </a:xfrm>
          <a:prstGeom prst="roundRect">
            <a:avLst>
              <a:gd name="adj" fmla="val 40000"/>
            </a:avLst>
          </a:prstGeom>
          <a:solidFill>
            <a:srgbClr val="FFFFFF"/>
          </a:solidFill>
          <a:ln>
            <a:noFill/>
          </a:ln>
        </p:spPr>
        <p:txBody>
          <a:bodyPr rtlCol="0" anchor="ctr"/>
          <a:lstStyle/>
          <a:p>
            <a:pPr algn="ctr"/>
          </a:p>
        </p:txBody>
      </p:sp>
      <p:sp>
        <p:nvSpPr>
          <p:cNvPr id="11" name="TextBox 10"/>
          <p:cNvSpPr txBox="1"/>
          <p:nvPr/>
        </p:nvSpPr>
        <p:spPr>
          <a:xfrm>
            <a:off x="960120" y="5047488"/>
            <a:ext cx="6126480" cy="777240"/>
          </a:xfrm>
          <a:prstGeom prst="rect">
            <a:avLst/>
          </a:prstGeom>
          <a:noFill/>
        </p:spPr>
        <p:txBody>
          <a:bodyPr wrap="square" lIns="0" rIns="0" tIns="0" bIns="0" anchor="t"/>
          <a:lstStyle/>
          <a:p>
            <a:pPr algn="l">
              <a:spcBef>
                <a:spcPts val="0"/>
              </a:spcBef>
              <a:spcAft>
                <a:spcPts val="0"/>
              </a:spcAft>
            </a:pPr>
            <a:r>
              <a:rPr sz="1600" b="0">
                <a:solidFill>
                  <a:srgbClr val="FFFFFF"/>
                </a:solidFill>
                <a:latin typeface="Calibri"/>
              </a:rPr>
              <a:t>Pembeli nampak halaman awam. Data akaun tidak keluar.</a:t>
            </a:r>
          </a:p>
        </p:txBody>
      </p:sp>
      <p:sp>
        <p:nvSpPr>
          <p:cNvPr id="12" name="Rounded Rectangle 11"/>
          <p:cNvSpPr/>
          <p:nvPr/>
        </p:nvSpPr>
        <p:spPr>
          <a:xfrm>
            <a:off x="7452360" y="438912"/>
            <a:ext cx="4224528" cy="5980176"/>
          </a:xfrm>
          <a:prstGeom prst="roundRect">
            <a:avLst>
              <a:gd name="adj" fmla="val 8000"/>
            </a:avLst>
          </a:prstGeom>
          <a:solidFill>
            <a:srgbClr val="0C563E"/>
          </a:solidFill>
          <a:ln>
            <a:noFill/>
          </a:ln>
        </p:spPr>
        <p:txBody>
          <a:bodyPr rtlCol="0" anchor="ctr"/>
          <a:lstStyle/>
          <a:p>
            <a:pPr algn="ctr"/>
          </a:p>
        </p:txBody>
      </p:sp>
      <p:sp>
        <p:nvSpPr>
          <p:cNvPr id="13" name="TextBox 12"/>
          <p:cNvSpPr txBox="1"/>
          <p:nvPr/>
        </p:nvSpPr>
        <p:spPr>
          <a:xfrm>
            <a:off x="7708392" y="640080"/>
            <a:ext cx="3767328" cy="640080"/>
          </a:xfrm>
          <a:prstGeom prst="rect">
            <a:avLst/>
          </a:prstGeom>
          <a:noFill/>
        </p:spPr>
        <p:txBody>
          <a:bodyPr wrap="square" lIns="0" rIns="0" tIns="0" bIns="0" anchor="t"/>
          <a:lstStyle/>
          <a:p>
            <a:pPr algn="l">
              <a:spcBef>
                <a:spcPts val="0"/>
              </a:spcBef>
              <a:spcAft>
                <a:spcPts val="200"/>
              </a:spcAft>
            </a:pPr>
            <a:r>
              <a:rPr sz="1200" b="1">
                <a:solidFill>
                  <a:srgbClr val="FFFFFF"/>
                </a:solidFill>
                <a:latin typeface="Calibri"/>
              </a:rPr>
              <a:t>RANTAIAN</a:t>
            </a:r>
          </a:p>
          <a:p>
            <a:pPr algn="l">
              <a:spcBef>
                <a:spcPts val="0"/>
              </a:spcBef>
              <a:spcAft>
                <a:spcPts val="0"/>
              </a:spcAft>
            </a:pPr>
            <a:r>
              <a:rPr sz="1400" b="0">
                <a:solidFill>
                  <a:srgbClr val="D5E8DF"/>
                </a:solidFill>
                <a:latin typeface="Calibri"/>
              </a:rPr>
              <a:t>Dari ladang ke kedai</a:t>
            </a:r>
          </a:p>
        </p:txBody>
      </p:sp>
      <p:sp>
        <p:nvSpPr>
          <p:cNvPr id="14" name="Rounded Rectangle 13"/>
          <p:cNvSpPr/>
          <p:nvPr/>
        </p:nvSpPr>
        <p:spPr>
          <a:xfrm>
            <a:off x="7708392" y="1490472"/>
            <a:ext cx="3712464" cy="786384"/>
          </a:xfrm>
          <a:prstGeom prst="roundRect">
            <a:avLst>
              <a:gd name="adj" fmla="val 18000"/>
            </a:avLst>
          </a:prstGeom>
          <a:noFill/>
          <a:ln w="19050">
            <a:solidFill>
              <a:srgbClr val="8FC9B2"/>
            </a:solidFill>
          </a:ln>
        </p:spPr>
        <p:txBody>
          <a:bodyPr rtlCol="0" anchor="ctr"/>
          <a:lstStyle/>
          <a:p>
            <a:pPr algn="ctr"/>
          </a:p>
        </p:txBody>
      </p:sp>
      <p:sp>
        <p:nvSpPr>
          <p:cNvPr id="15" name="TextBox 14"/>
          <p:cNvSpPr txBox="1"/>
          <p:nvPr/>
        </p:nvSpPr>
        <p:spPr>
          <a:xfrm>
            <a:off x="7909560" y="1490472"/>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Pengeluar</a:t>
            </a:r>
          </a:p>
        </p:txBody>
      </p:sp>
      <p:sp>
        <p:nvSpPr>
          <p:cNvPr id="16" name="Rounded Rectangle 15"/>
          <p:cNvSpPr/>
          <p:nvPr/>
        </p:nvSpPr>
        <p:spPr>
          <a:xfrm>
            <a:off x="7708392" y="2386584"/>
            <a:ext cx="3712464" cy="786384"/>
          </a:xfrm>
          <a:prstGeom prst="roundRect">
            <a:avLst>
              <a:gd name="adj" fmla="val 18000"/>
            </a:avLst>
          </a:prstGeom>
          <a:solidFill>
            <a:srgbClr val="FFFFFF"/>
          </a:solidFill>
          <a:ln>
            <a:noFill/>
          </a:ln>
        </p:spPr>
        <p:txBody>
          <a:bodyPr rtlCol="0" anchor="ctr"/>
          <a:lstStyle/>
          <a:p>
            <a:pPr algn="ctr"/>
          </a:p>
        </p:txBody>
      </p:sp>
      <p:sp>
        <p:nvSpPr>
          <p:cNvPr id="17" name="TextBox 16"/>
          <p:cNvSpPr txBox="1"/>
          <p:nvPr/>
        </p:nvSpPr>
        <p:spPr>
          <a:xfrm>
            <a:off x="7909560" y="2386584"/>
            <a:ext cx="3346704" cy="786384"/>
          </a:xfrm>
          <a:prstGeom prst="rect">
            <a:avLst/>
          </a:prstGeom>
          <a:noFill/>
        </p:spPr>
        <p:txBody>
          <a:bodyPr wrap="square" lIns="0" rIns="0" tIns="0" bIns="0" anchor="ctr"/>
          <a:lstStyle/>
          <a:p>
            <a:pPr algn="l">
              <a:spcBef>
                <a:spcPts val="0"/>
              </a:spcBef>
              <a:spcAft>
                <a:spcPts val="0"/>
              </a:spcAft>
            </a:pPr>
            <a:r>
              <a:rPr sz="1800" b="1">
                <a:solidFill>
                  <a:srgbClr val="0F6B4C"/>
                </a:solidFill>
                <a:latin typeface="Calibri"/>
              </a:rPr>
              <a:t>Pengeksport</a:t>
            </a:r>
          </a:p>
          <a:p>
            <a:pPr algn="l">
              <a:spcBef>
                <a:spcPts val="100"/>
              </a:spcBef>
              <a:spcAft>
                <a:spcPts val="0"/>
              </a:spcAft>
            </a:pPr>
            <a:r>
              <a:rPr sz="1200" b="1">
                <a:solidFill>
                  <a:srgbClr val="0F6B4C"/>
                </a:solidFill>
                <a:latin typeface="Calibri"/>
              </a:rPr>
              <a:t>Anda</a:t>
            </a:r>
          </a:p>
        </p:txBody>
      </p:sp>
      <p:sp>
        <p:nvSpPr>
          <p:cNvPr id="18" name="Rounded Rectangle 17"/>
          <p:cNvSpPr/>
          <p:nvPr/>
        </p:nvSpPr>
        <p:spPr>
          <a:xfrm>
            <a:off x="7708392" y="3282696"/>
            <a:ext cx="3712464" cy="786384"/>
          </a:xfrm>
          <a:prstGeom prst="roundRect">
            <a:avLst>
              <a:gd name="adj" fmla="val 18000"/>
            </a:avLst>
          </a:prstGeom>
          <a:noFill/>
          <a:ln w="19050">
            <a:solidFill>
              <a:srgbClr val="8FC9B2"/>
            </a:solidFill>
          </a:ln>
        </p:spPr>
        <p:txBody>
          <a:bodyPr rtlCol="0" anchor="ctr"/>
          <a:lstStyle/>
          <a:p>
            <a:pPr algn="ctr"/>
          </a:p>
        </p:txBody>
      </p:sp>
      <p:sp>
        <p:nvSpPr>
          <p:cNvPr id="19" name="TextBox 18"/>
          <p:cNvSpPr txBox="1"/>
          <p:nvPr/>
        </p:nvSpPr>
        <p:spPr>
          <a:xfrm>
            <a:off x="7909560" y="3282696"/>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Pemborong</a:t>
            </a:r>
          </a:p>
        </p:txBody>
      </p:sp>
      <p:sp>
        <p:nvSpPr>
          <p:cNvPr id="20" name="Rounded Rectangle 19"/>
          <p:cNvSpPr/>
          <p:nvPr/>
        </p:nvSpPr>
        <p:spPr>
          <a:xfrm>
            <a:off x="7708392" y="4178808"/>
            <a:ext cx="3712464" cy="786384"/>
          </a:xfrm>
          <a:prstGeom prst="roundRect">
            <a:avLst>
              <a:gd name="adj" fmla="val 18000"/>
            </a:avLst>
          </a:prstGeom>
          <a:noFill/>
          <a:ln w="19050">
            <a:solidFill>
              <a:srgbClr val="8FC9B2"/>
            </a:solidFill>
          </a:ln>
        </p:spPr>
        <p:txBody>
          <a:bodyPr rtlCol="0" anchor="ctr"/>
          <a:lstStyle/>
          <a:p>
            <a:pPr algn="ctr"/>
          </a:p>
        </p:txBody>
      </p:sp>
      <p:sp>
        <p:nvSpPr>
          <p:cNvPr id="21" name="TextBox 20"/>
          <p:cNvSpPr txBox="1"/>
          <p:nvPr/>
        </p:nvSpPr>
        <p:spPr>
          <a:xfrm>
            <a:off x="7909560" y="4178808"/>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Pengimport</a:t>
            </a:r>
          </a:p>
        </p:txBody>
      </p:sp>
      <p:sp>
        <p:nvSpPr>
          <p:cNvPr id="22" name="Rounded Rectangle 21"/>
          <p:cNvSpPr/>
          <p:nvPr/>
        </p:nvSpPr>
        <p:spPr>
          <a:xfrm>
            <a:off x="7708392" y="5074920"/>
            <a:ext cx="3712464" cy="786384"/>
          </a:xfrm>
          <a:prstGeom prst="roundRect">
            <a:avLst>
              <a:gd name="adj" fmla="val 18000"/>
            </a:avLst>
          </a:prstGeom>
          <a:noFill/>
          <a:ln w="19050">
            <a:solidFill>
              <a:srgbClr val="8FC9B2"/>
            </a:solidFill>
          </a:ln>
        </p:spPr>
        <p:txBody>
          <a:bodyPr rtlCol="0" anchor="ctr"/>
          <a:lstStyle/>
          <a:p>
            <a:pPr algn="ctr"/>
          </a:p>
        </p:txBody>
      </p:sp>
      <p:sp>
        <p:nvSpPr>
          <p:cNvPr id="23" name="TextBox 22"/>
          <p:cNvSpPr txBox="1"/>
          <p:nvPr/>
        </p:nvSpPr>
        <p:spPr>
          <a:xfrm>
            <a:off x="7909560" y="5074920"/>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Peruncit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TextBox 2"/>
          <p:cNvSpPr txBox="1"/>
          <p:nvPr/>
        </p:nvSpPr>
        <p:spPr>
          <a:xfrm>
            <a:off x="566928" y="457200"/>
            <a:ext cx="6583680" cy="292608"/>
          </a:xfrm>
          <a:prstGeom prst="rect">
            <a:avLst/>
          </a:prstGeom>
          <a:noFill/>
        </p:spPr>
        <p:txBody>
          <a:bodyPr wrap="square" lIns="0" rIns="0" tIns="0" bIns="0" anchor="t"/>
          <a:lstStyle/>
          <a:p>
            <a:pPr algn="l">
              <a:spcBef>
                <a:spcPts val="0"/>
              </a:spcBef>
              <a:spcAft>
                <a:spcPts val="0"/>
              </a:spcAft>
            </a:pPr>
            <a:r>
              <a:rPr sz="1300" b="1">
                <a:solidFill>
                  <a:srgbClr val="0F6B4C"/>
                </a:solidFill>
                <a:latin typeface="Calibri"/>
              </a:rPr>
              <a:t>UNTUK PENGEKSPORT</a:t>
            </a:r>
          </a:p>
        </p:txBody>
      </p:sp>
      <p:sp>
        <p:nvSpPr>
          <p:cNvPr id="4" name="TextBox 3"/>
          <p:cNvSpPr txBox="1"/>
          <p:nvPr/>
        </p:nvSpPr>
        <p:spPr>
          <a:xfrm>
            <a:off x="566928" y="868680"/>
            <a:ext cx="6583680" cy="731520"/>
          </a:xfrm>
          <a:prstGeom prst="rect">
            <a:avLst/>
          </a:prstGeom>
          <a:noFill/>
        </p:spPr>
        <p:txBody>
          <a:bodyPr wrap="square" lIns="0" rIns="0" tIns="0" bIns="0" anchor="t"/>
          <a:lstStyle/>
          <a:p>
            <a:pPr algn="l">
              <a:spcBef>
                <a:spcPts val="0"/>
              </a:spcBef>
              <a:spcAft>
                <a:spcPts val="0"/>
              </a:spcAft>
            </a:pPr>
            <a:r>
              <a:rPr sz="4000" b="1">
                <a:solidFill>
                  <a:srgbClr val="14241D"/>
                </a:solidFill>
                <a:latin typeface="Calibri"/>
              </a:rPr>
              <a:t>Pemborong</a:t>
            </a:r>
          </a:p>
        </p:txBody>
      </p:sp>
      <p:sp>
        <p:nvSpPr>
          <p:cNvPr id="5" name="TextBox 4"/>
          <p:cNvSpPr txBox="1"/>
          <p:nvPr/>
        </p:nvSpPr>
        <p:spPr>
          <a:xfrm>
            <a:off x="566928" y="1737360"/>
            <a:ext cx="6537960" cy="1234440"/>
          </a:xfrm>
          <a:prstGeom prst="rect">
            <a:avLst/>
          </a:prstGeom>
          <a:noFill/>
        </p:spPr>
        <p:txBody>
          <a:bodyPr wrap="square" lIns="0" rIns="0" tIns="0" bIns="0" anchor="t"/>
          <a:lstStyle/>
          <a:p>
            <a:pPr algn="l">
              <a:spcBef>
                <a:spcPts val="0"/>
              </a:spcBef>
              <a:spcAft>
                <a:spcPts val="0"/>
              </a:spcAft>
            </a:pPr>
            <a:r>
              <a:rPr sz="2000" b="0">
                <a:solidFill>
                  <a:srgbClr val="14241D"/>
                </a:solidFill>
                <a:latin typeface="Calibri"/>
              </a:rPr>
              <a:t>Tangan seterusnya. Tekan Diterima, kemudian jual lagi. Garisan jejak kekal satu.</a:t>
            </a:r>
          </a:p>
        </p:txBody>
      </p:sp>
      <p:sp>
        <p:nvSpPr>
          <p:cNvPr id="6" name="Rounded Rectangle 5"/>
          <p:cNvSpPr/>
          <p:nvPr/>
        </p:nvSpPr>
        <p:spPr>
          <a:xfrm>
            <a:off x="621792" y="3273552"/>
            <a:ext cx="146304" cy="146304"/>
          </a:xfrm>
          <a:prstGeom prst="roundRect">
            <a:avLst>
              <a:gd name="adj" fmla="val 40000"/>
            </a:avLst>
          </a:prstGeom>
          <a:solidFill>
            <a:srgbClr val="0F6B4C"/>
          </a:solidFill>
          <a:ln>
            <a:noFill/>
          </a:ln>
        </p:spPr>
        <p:txBody>
          <a:bodyPr rtlCol="0" anchor="ctr"/>
          <a:lstStyle/>
          <a:p>
            <a:pPr algn="ctr"/>
          </a:p>
        </p:txBody>
      </p:sp>
      <p:sp>
        <p:nvSpPr>
          <p:cNvPr id="7" name="TextBox 6"/>
          <p:cNvSpPr txBox="1"/>
          <p:nvPr/>
        </p:nvSpPr>
        <p:spPr>
          <a:xfrm>
            <a:off x="960120" y="312724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Lot yang sampai ditekan Diterima sebelum dibuka kepada awam.</a:t>
            </a:r>
          </a:p>
        </p:txBody>
      </p:sp>
      <p:sp>
        <p:nvSpPr>
          <p:cNvPr id="8" name="Rounded Rectangle 7"/>
          <p:cNvSpPr/>
          <p:nvPr/>
        </p:nvSpPr>
        <p:spPr>
          <a:xfrm>
            <a:off x="621792" y="4233672"/>
            <a:ext cx="146304" cy="146304"/>
          </a:xfrm>
          <a:prstGeom prst="roundRect">
            <a:avLst>
              <a:gd name="adj" fmla="val 40000"/>
            </a:avLst>
          </a:prstGeom>
          <a:solidFill>
            <a:srgbClr val="0F6B4C"/>
          </a:solidFill>
          <a:ln>
            <a:noFill/>
          </a:ln>
        </p:spPr>
        <p:txBody>
          <a:bodyPr rtlCol="0" anchor="ctr"/>
          <a:lstStyle/>
          <a:p>
            <a:pPr algn="ctr"/>
          </a:p>
        </p:txBody>
      </p:sp>
      <p:sp>
        <p:nvSpPr>
          <p:cNvPr id="9" name="TextBox 8"/>
          <p:cNvSpPr txBox="1"/>
          <p:nvPr/>
        </p:nvSpPr>
        <p:spPr>
          <a:xfrm>
            <a:off x="960120" y="408736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Baki boleh dijual ke jenis yang sama atau ke hilir.</a:t>
            </a:r>
          </a:p>
        </p:txBody>
      </p:sp>
      <p:sp>
        <p:nvSpPr>
          <p:cNvPr id="10" name="Rounded Rectangle 9"/>
          <p:cNvSpPr/>
          <p:nvPr/>
        </p:nvSpPr>
        <p:spPr>
          <a:xfrm>
            <a:off x="621792" y="5193792"/>
            <a:ext cx="146304" cy="146304"/>
          </a:xfrm>
          <a:prstGeom prst="roundRect">
            <a:avLst>
              <a:gd name="adj" fmla="val 40000"/>
            </a:avLst>
          </a:prstGeom>
          <a:solidFill>
            <a:srgbClr val="0F6B4C"/>
          </a:solidFill>
          <a:ln>
            <a:noFill/>
          </a:ln>
        </p:spPr>
        <p:txBody>
          <a:bodyPr rtlCol="0" anchor="ctr"/>
          <a:lstStyle/>
          <a:p>
            <a:pPr algn="ctr"/>
          </a:p>
        </p:txBody>
      </p:sp>
      <p:sp>
        <p:nvSpPr>
          <p:cNvPr id="11" name="TextBox 10"/>
          <p:cNvSpPr txBox="1"/>
          <p:nvPr/>
        </p:nvSpPr>
        <p:spPr>
          <a:xfrm>
            <a:off x="960120" y="504748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Jualan tidak kembali ke pengeluar.</a:t>
            </a:r>
          </a:p>
        </p:txBody>
      </p:sp>
      <p:sp>
        <p:nvSpPr>
          <p:cNvPr id="12" name="Rounded Rectangle 11"/>
          <p:cNvSpPr/>
          <p:nvPr/>
        </p:nvSpPr>
        <p:spPr>
          <a:xfrm>
            <a:off x="7452360" y="438912"/>
            <a:ext cx="4224528" cy="5980176"/>
          </a:xfrm>
          <a:prstGeom prst="roundRect">
            <a:avLst>
              <a:gd name="adj" fmla="val 8000"/>
            </a:avLst>
          </a:prstGeom>
          <a:solidFill>
            <a:srgbClr val="E7F0EB"/>
          </a:solidFill>
          <a:ln>
            <a:noFill/>
          </a:ln>
        </p:spPr>
        <p:txBody>
          <a:bodyPr rtlCol="0" anchor="ctr"/>
          <a:lstStyle/>
          <a:p>
            <a:pPr algn="ctr"/>
          </a:p>
        </p:txBody>
      </p:sp>
      <p:sp>
        <p:nvSpPr>
          <p:cNvPr id="13" name="TextBox 12"/>
          <p:cNvSpPr txBox="1"/>
          <p:nvPr/>
        </p:nvSpPr>
        <p:spPr>
          <a:xfrm>
            <a:off x="7708392" y="640080"/>
            <a:ext cx="3767328" cy="640080"/>
          </a:xfrm>
          <a:prstGeom prst="rect">
            <a:avLst/>
          </a:prstGeom>
          <a:noFill/>
        </p:spPr>
        <p:txBody>
          <a:bodyPr wrap="square" lIns="0" rIns="0" tIns="0" bIns="0" anchor="t"/>
          <a:lstStyle/>
          <a:p>
            <a:pPr algn="l">
              <a:spcBef>
                <a:spcPts val="0"/>
              </a:spcBef>
              <a:spcAft>
                <a:spcPts val="200"/>
              </a:spcAft>
            </a:pPr>
            <a:r>
              <a:rPr sz="1200" b="1">
                <a:solidFill>
                  <a:srgbClr val="0F6B4C"/>
                </a:solidFill>
                <a:latin typeface="Calibri"/>
              </a:rPr>
              <a:t>RANTAIAN</a:t>
            </a:r>
          </a:p>
          <a:p>
            <a:pPr algn="l">
              <a:spcBef>
                <a:spcPts val="0"/>
              </a:spcBef>
              <a:spcAft>
                <a:spcPts val="0"/>
              </a:spcAft>
            </a:pPr>
            <a:r>
              <a:rPr sz="1400" b="0">
                <a:solidFill>
                  <a:srgbClr val="5B6B63"/>
                </a:solidFill>
                <a:latin typeface="Calibri"/>
              </a:rPr>
              <a:t>Dari ladang ke kedai</a:t>
            </a:r>
          </a:p>
        </p:txBody>
      </p:sp>
      <p:sp>
        <p:nvSpPr>
          <p:cNvPr id="14" name="Rounded Rectangle 13"/>
          <p:cNvSpPr/>
          <p:nvPr/>
        </p:nvSpPr>
        <p:spPr>
          <a:xfrm>
            <a:off x="7708392" y="1490472"/>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15" name="TextBox 14"/>
          <p:cNvSpPr txBox="1"/>
          <p:nvPr/>
        </p:nvSpPr>
        <p:spPr>
          <a:xfrm>
            <a:off x="7909560" y="1490472"/>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Pengeluar</a:t>
            </a:r>
          </a:p>
        </p:txBody>
      </p:sp>
      <p:sp>
        <p:nvSpPr>
          <p:cNvPr id="16" name="Rounded Rectangle 15"/>
          <p:cNvSpPr/>
          <p:nvPr/>
        </p:nvSpPr>
        <p:spPr>
          <a:xfrm>
            <a:off x="7708392" y="2386584"/>
            <a:ext cx="3712464" cy="786384"/>
          </a:xfrm>
          <a:prstGeom prst="roundRect">
            <a:avLst>
              <a:gd name="adj" fmla="val 18000"/>
            </a:avLst>
          </a:prstGeom>
          <a:solidFill>
            <a:srgbClr val="FFFFFF"/>
          </a:solidFill>
          <a:ln w="15875">
            <a:solidFill>
              <a:srgbClr val="0F6B4C"/>
            </a:solidFill>
          </a:ln>
        </p:spPr>
        <p:txBody>
          <a:bodyPr rtlCol="0" anchor="ctr"/>
          <a:lstStyle/>
          <a:p>
            <a:pPr algn="ctr"/>
          </a:p>
        </p:txBody>
      </p:sp>
      <p:sp>
        <p:nvSpPr>
          <p:cNvPr id="17" name="TextBox 16"/>
          <p:cNvSpPr txBox="1"/>
          <p:nvPr/>
        </p:nvSpPr>
        <p:spPr>
          <a:xfrm>
            <a:off x="7909560" y="2386584"/>
            <a:ext cx="3346704" cy="786384"/>
          </a:xfrm>
          <a:prstGeom prst="rect">
            <a:avLst/>
          </a:prstGeom>
          <a:noFill/>
        </p:spPr>
        <p:txBody>
          <a:bodyPr wrap="square" lIns="0" rIns="0" tIns="0" bIns="0" anchor="ctr"/>
          <a:lstStyle/>
          <a:p>
            <a:pPr algn="l">
              <a:spcBef>
                <a:spcPts val="0"/>
              </a:spcBef>
              <a:spcAft>
                <a:spcPts val="0"/>
              </a:spcAft>
            </a:pPr>
            <a:r>
              <a:rPr sz="1800" b="1">
                <a:solidFill>
                  <a:srgbClr val="0F6B4C"/>
                </a:solidFill>
                <a:latin typeface="Calibri"/>
              </a:rPr>
              <a:t>Pengeksport</a:t>
            </a:r>
          </a:p>
          <a:p>
            <a:pPr algn="l">
              <a:spcBef>
                <a:spcPts val="100"/>
              </a:spcBef>
              <a:spcAft>
                <a:spcPts val="0"/>
              </a:spcAft>
            </a:pPr>
            <a:r>
              <a:rPr sz="1200" b="1">
                <a:solidFill>
                  <a:srgbClr val="0F6B4C"/>
                </a:solidFill>
                <a:latin typeface="Calibri"/>
              </a:rPr>
              <a:t>Anda</a:t>
            </a:r>
          </a:p>
        </p:txBody>
      </p:sp>
      <p:sp>
        <p:nvSpPr>
          <p:cNvPr id="18" name="Rounded Rectangle 17"/>
          <p:cNvSpPr/>
          <p:nvPr/>
        </p:nvSpPr>
        <p:spPr>
          <a:xfrm>
            <a:off x="7708392" y="3282696"/>
            <a:ext cx="3712464" cy="786384"/>
          </a:xfrm>
          <a:prstGeom prst="roundRect">
            <a:avLst>
              <a:gd name="adj" fmla="val 18000"/>
            </a:avLst>
          </a:prstGeom>
          <a:solidFill>
            <a:srgbClr val="0F6B4C"/>
          </a:solidFill>
          <a:ln>
            <a:noFill/>
          </a:ln>
        </p:spPr>
        <p:txBody>
          <a:bodyPr rtlCol="0" anchor="ctr"/>
          <a:lstStyle/>
          <a:p>
            <a:pPr algn="ctr"/>
          </a:p>
        </p:txBody>
      </p:sp>
      <p:sp>
        <p:nvSpPr>
          <p:cNvPr id="19" name="TextBox 18"/>
          <p:cNvSpPr txBox="1"/>
          <p:nvPr/>
        </p:nvSpPr>
        <p:spPr>
          <a:xfrm>
            <a:off x="7909560" y="3282696"/>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Pemborong</a:t>
            </a:r>
          </a:p>
        </p:txBody>
      </p:sp>
      <p:sp>
        <p:nvSpPr>
          <p:cNvPr id="20" name="Rounded Rectangle 19"/>
          <p:cNvSpPr/>
          <p:nvPr/>
        </p:nvSpPr>
        <p:spPr>
          <a:xfrm>
            <a:off x="7708392" y="4178808"/>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21" name="TextBox 20"/>
          <p:cNvSpPr txBox="1"/>
          <p:nvPr/>
        </p:nvSpPr>
        <p:spPr>
          <a:xfrm>
            <a:off x="7909560" y="4178808"/>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Pengimport</a:t>
            </a:r>
          </a:p>
        </p:txBody>
      </p:sp>
      <p:sp>
        <p:nvSpPr>
          <p:cNvPr id="22" name="Rounded Rectangle 21"/>
          <p:cNvSpPr/>
          <p:nvPr/>
        </p:nvSpPr>
        <p:spPr>
          <a:xfrm>
            <a:off x="7708392" y="5074920"/>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23" name="TextBox 22"/>
          <p:cNvSpPr txBox="1"/>
          <p:nvPr/>
        </p:nvSpPr>
        <p:spPr>
          <a:xfrm>
            <a:off x="7909560" y="5074920"/>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Peruncit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TextBox 2"/>
          <p:cNvSpPr txBox="1"/>
          <p:nvPr/>
        </p:nvSpPr>
        <p:spPr>
          <a:xfrm>
            <a:off x="566928" y="457200"/>
            <a:ext cx="6583680" cy="292608"/>
          </a:xfrm>
          <a:prstGeom prst="rect">
            <a:avLst/>
          </a:prstGeom>
          <a:noFill/>
        </p:spPr>
        <p:txBody>
          <a:bodyPr wrap="square" lIns="0" rIns="0" tIns="0" bIns="0" anchor="t"/>
          <a:lstStyle/>
          <a:p>
            <a:pPr algn="l">
              <a:spcBef>
                <a:spcPts val="0"/>
              </a:spcBef>
              <a:spcAft>
                <a:spcPts val="0"/>
              </a:spcAft>
            </a:pPr>
            <a:r>
              <a:rPr sz="1300" b="1">
                <a:solidFill>
                  <a:srgbClr val="0F6B4C"/>
                </a:solidFill>
                <a:latin typeface="Calibri"/>
              </a:rPr>
              <a:t>UNTUK PENGEKSPORT</a:t>
            </a:r>
          </a:p>
        </p:txBody>
      </p:sp>
      <p:sp>
        <p:nvSpPr>
          <p:cNvPr id="4" name="TextBox 3"/>
          <p:cNvSpPr txBox="1"/>
          <p:nvPr/>
        </p:nvSpPr>
        <p:spPr>
          <a:xfrm>
            <a:off x="566928" y="868680"/>
            <a:ext cx="6583680" cy="731520"/>
          </a:xfrm>
          <a:prstGeom prst="rect">
            <a:avLst/>
          </a:prstGeom>
          <a:noFill/>
        </p:spPr>
        <p:txBody>
          <a:bodyPr wrap="square" lIns="0" rIns="0" tIns="0" bIns="0" anchor="t"/>
          <a:lstStyle/>
          <a:p>
            <a:pPr algn="l">
              <a:spcBef>
                <a:spcPts val="0"/>
              </a:spcBef>
              <a:spcAft>
                <a:spcPts val="0"/>
              </a:spcAft>
            </a:pPr>
            <a:r>
              <a:rPr sz="4000" b="1">
                <a:solidFill>
                  <a:srgbClr val="14241D"/>
                </a:solidFill>
                <a:latin typeface="Calibri"/>
              </a:rPr>
              <a:t>Pengimport</a:t>
            </a:r>
          </a:p>
        </p:txBody>
      </p:sp>
      <p:sp>
        <p:nvSpPr>
          <p:cNvPr id="5" name="TextBox 4"/>
          <p:cNvSpPr txBox="1"/>
          <p:nvPr/>
        </p:nvSpPr>
        <p:spPr>
          <a:xfrm>
            <a:off x="566928" y="1737360"/>
            <a:ext cx="6537960" cy="1234440"/>
          </a:xfrm>
          <a:prstGeom prst="rect">
            <a:avLst/>
          </a:prstGeom>
          <a:noFill/>
        </p:spPr>
        <p:txBody>
          <a:bodyPr wrap="square" lIns="0" rIns="0" tIns="0" bIns="0" anchor="t"/>
          <a:lstStyle/>
          <a:p>
            <a:pPr algn="l">
              <a:spcBef>
                <a:spcPts val="0"/>
              </a:spcBef>
              <a:spcAft>
                <a:spcPts val="0"/>
              </a:spcAft>
            </a:pPr>
            <a:r>
              <a:rPr sz="2000" b="0">
                <a:solidFill>
                  <a:srgbClr val="14241D"/>
                </a:solidFill>
                <a:latin typeface="Calibri"/>
              </a:rPr>
              <a:t>Pembeli di destinasi eksport. Nama dan alamat ada pada permohonan. Imbasan masih kod yang sama.</a:t>
            </a:r>
          </a:p>
        </p:txBody>
      </p:sp>
      <p:sp>
        <p:nvSpPr>
          <p:cNvPr id="6" name="Rounded Rectangle 5"/>
          <p:cNvSpPr/>
          <p:nvPr/>
        </p:nvSpPr>
        <p:spPr>
          <a:xfrm>
            <a:off x="621792" y="3273552"/>
            <a:ext cx="146304" cy="146304"/>
          </a:xfrm>
          <a:prstGeom prst="roundRect">
            <a:avLst>
              <a:gd name="adj" fmla="val 40000"/>
            </a:avLst>
          </a:prstGeom>
          <a:solidFill>
            <a:srgbClr val="0F6B4C"/>
          </a:solidFill>
          <a:ln>
            <a:noFill/>
          </a:ln>
        </p:spPr>
        <p:txBody>
          <a:bodyPr rtlCol="0" anchor="ctr"/>
          <a:lstStyle/>
          <a:p>
            <a:pPr algn="ctr"/>
          </a:p>
        </p:txBody>
      </p:sp>
      <p:sp>
        <p:nvSpPr>
          <p:cNvPr id="7" name="TextBox 6"/>
          <p:cNvSpPr txBox="1"/>
          <p:nvPr/>
        </p:nvSpPr>
        <p:spPr>
          <a:xfrm>
            <a:off x="960120" y="312724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Destinasi, tarikh, nama, dan alamat diisi bila pasaran ialah Eksport.</a:t>
            </a:r>
          </a:p>
        </p:txBody>
      </p:sp>
      <p:sp>
        <p:nvSpPr>
          <p:cNvPr id="8" name="Rounded Rectangle 7"/>
          <p:cNvSpPr/>
          <p:nvPr/>
        </p:nvSpPr>
        <p:spPr>
          <a:xfrm>
            <a:off x="621792" y="4233672"/>
            <a:ext cx="146304" cy="146304"/>
          </a:xfrm>
          <a:prstGeom prst="roundRect">
            <a:avLst>
              <a:gd name="adj" fmla="val 40000"/>
            </a:avLst>
          </a:prstGeom>
          <a:solidFill>
            <a:srgbClr val="0F6B4C"/>
          </a:solidFill>
          <a:ln>
            <a:noFill/>
          </a:ln>
        </p:spPr>
        <p:txBody>
          <a:bodyPr rtlCol="0" anchor="ctr"/>
          <a:lstStyle/>
          <a:p>
            <a:pPr algn="ctr"/>
          </a:p>
        </p:txBody>
      </p:sp>
      <p:sp>
        <p:nvSpPr>
          <p:cNvPr id="9" name="TextBox 8"/>
          <p:cNvSpPr txBox="1"/>
          <p:nvPr/>
        </p:nvSpPr>
        <p:spPr>
          <a:xfrm>
            <a:off x="960120" y="408736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Lot yang sampai ditekan Diterima, sama seperti tangan lain.</a:t>
            </a:r>
          </a:p>
        </p:txBody>
      </p:sp>
      <p:sp>
        <p:nvSpPr>
          <p:cNvPr id="10" name="Rounded Rectangle 9"/>
          <p:cNvSpPr/>
          <p:nvPr/>
        </p:nvSpPr>
        <p:spPr>
          <a:xfrm>
            <a:off x="621792" y="5193792"/>
            <a:ext cx="146304" cy="146304"/>
          </a:xfrm>
          <a:prstGeom prst="roundRect">
            <a:avLst>
              <a:gd name="adj" fmla="val 40000"/>
            </a:avLst>
          </a:prstGeom>
          <a:solidFill>
            <a:srgbClr val="0F6B4C"/>
          </a:solidFill>
          <a:ln>
            <a:noFill/>
          </a:ln>
        </p:spPr>
        <p:txBody>
          <a:bodyPr rtlCol="0" anchor="ctr"/>
          <a:lstStyle/>
          <a:p>
            <a:pPr algn="ctr"/>
          </a:p>
        </p:txBody>
      </p:sp>
      <p:sp>
        <p:nvSpPr>
          <p:cNvPr id="11" name="TextBox 10"/>
          <p:cNvSpPr txBox="1"/>
          <p:nvPr/>
        </p:nvSpPr>
        <p:spPr>
          <a:xfrm>
            <a:off x="960120" y="504748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Halaman awam menunjukkan peranan dan pemegang, bukan akaun.</a:t>
            </a:r>
          </a:p>
        </p:txBody>
      </p:sp>
      <p:sp>
        <p:nvSpPr>
          <p:cNvPr id="12" name="Rounded Rectangle 11"/>
          <p:cNvSpPr/>
          <p:nvPr/>
        </p:nvSpPr>
        <p:spPr>
          <a:xfrm>
            <a:off x="7452360" y="438912"/>
            <a:ext cx="4224528" cy="5980176"/>
          </a:xfrm>
          <a:prstGeom prst="roundRect">
            <a:avLst>
              <a:gd name="adj" fmla="val 8000"/>
            </a:avLst>
          </a:prstGeom>
          <a:solidFill>
            <a:srgbClr val="E7F0EB"/>
          </a:solidFill>
          <a:ln>
            <a:noFill/>
          </a:ln>
        </p:spPr>
        <p:txBody>
          <a:bodyPr rtlCol="0" anchor="ctr"/>
          <a:lstStyle/>
          <a:p>
            <a:pPr algn="ctr"/>
          </a:p>
        </p:txBody>
      </p:sp>
      <p:sp>
        <p:nvSpPr>
          <p:cNvPr id="13" name="TextBox 12"/>
          <p:cNvSpPr txBox="1"/>
          <p:nvPr/>
        </p:nvSpPr>
        <p:spPr>
          <a:xfrm>
            <a:off x="7708392" y="640080"/>
            <a:ext cx="3767328" cy="640080"/>
          </a:xfrm>
          <a:prstGeom prst="rect">
            <a:avLst/>
          </a:prstGeom>
          <a:noFill/>
        </p:spPr>
        <p:txBody>
          <a:bodyPr wrap="square" lIns="0" rIns="0" tIns="0" bIns="0" anchor="t"/>
          <a:lstStyle/>
          <a:p>
            <a:pPr algn="l">
              <a:spcBef>
                <a:spcPts val="0"/>
              </a:spcBef>
              <a:spcAft>
                <a:spcPts val="200"/>
              </a:spcAft>
            </a:pPr>
            <a:r>
              <a:rPr sz="1200" b="1">
                <a:solidFill>
                  <a:srgbClr val="0F6B4C"/>
                </a:solidFill>
                <a:latin typeface="Calibri"/>
              </a:rPr>
              <a:t>RANTAIAN</a:t>
            </a:r>
          </a:p>
          <a:p>
            <a:pPr algn="l">
              <a:spcBef>
                <a:spcPts val="0"/>
              </a:spcBef>
              <a:spcAft>
                <a:spcPts val="0"/>
              </a:spcAft>
            </a:pPr>
            <a:r>
              <a:rPr sz="1400" b="0">
                <a:solidFill>
                  <a:srgbClr val="5B6B63"/>
                </a:solidFill>
                <a:latin typeface="Calibri"/>
              </a:rPr>
              <a:t>Dari ladang ke kedai</a:t>
            </a:r>
          </a:p>
        </p:txBody>
      </p:sp>
      <p:sp>
        <p:nvSpPr>
          <p:cNvPr id="14" name="Rounded Rectangle 13"/>
          <p:cNvSpPr/>
          <p:nvPr/>
        </p:nvSpPr>
        <p:spPr>
          <a:xfrm>
            <a:off x="7708392" y="1490472"/>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15" name="TextBox 14"/>
          <p:cNvSpPr txBox="1"/>
          <p:nvPr/>
        </p:nvSpPr>
        <p:spPr>
          <a:xfrm>
            <a:off x="7909560" y="1490472"/>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Pengeluar</a:t>
            </a:r>
          </a:p>
        </p:txBody>
      </p:sp>
      <p:sp>
        <p:nvSpPr>
          <p:cNvPr id="16" name="Rounded Rectangle 15"/>
          <p:cNvSpPr/>
          <p:nvPr/>
        </p:nvSpPr>
        <p:spPr>
          <a:xfrm>
            <a:off x="7708392" y="2386584"/>
            <a:ext cx="3712464" cy="786384"/>
          </a:xfrm>
          <a:prstGeom prst="roundRect">
            <a:avLst>
              <a:gd name="adj" fmla="val 18000"/>
            </a:avLst>
          </a:prstGeom>
          <a:solidFill>
            <a:srgbClr val="FFFFFF"/>
          </a:solidFill>
          <a:ln w="15875">
            <a:solidFill>
              <a:srgbClr val="0F6B4C"/>
            </a:solidFill>
          </a:ln>
        </p:spPr>
        <p:txBody>
          <a:bodyPr rtlCol="0" anchor="ctr"/>
          <a:lstStyle/>
          <a:p>
            <a:pPr algn="ctr"/>
          </a:p>
        </p:txBody>
      </p:sp>
      <p:sp>
        <p:nvSpPr>
          <p:cNvPr id="17" name="TextBox 16"/>
          <p:cNvSpPr txBox="1"/>
          <p:nvPr/>
        </p:nvSpPr>
        <p:spPr>
          <a:xfrm>
            <a:off x="7909560" y="2386584"/>
            <a:ext cx="3346704" cy="786384"/>
          </a:xfrm>
          <a:prstGeom prst="rect">
            <a:avLst/>
          </a:prstGeom>
          <a:noFill/>
        </p:spPr>
        <p:txBody>
          <a:bodyPr wrap="square" lIns="0" rIns="0" tIns="0" bIns="0" anchor="ctr"/>
          <a:lstStyle/>
          <a:p>
            <a:pPr algn="l">
              <a:spcBef>
                <a:spcPts val="0"/>
              </a:spcBef>
              <a:spcAft>
                <a:spcPts val="0"/>
              </a:spcAft>
            </a:pPr>
            <a:r>
              <a:rPr sz="1800" b="1">
                <a:solidFill>
                  <a:srgbClr val="0F6B4C"/>
                </a:solidFill>
                <a:latin typeface="Calibri"/>
              </a:rPr>
              <a:t>Pengeksport</a:t>
            </a:r>
          </a:p>
          <a:p>
            <a:pPr algn="l">
              <a:spcBef>
                <a:spcPts val="100"/>
              </a:spcBef>
              <a:spcAft>
                <a:spcPts val="0"/>
              </a:spcAft>
            </a:pPr>
            <a:r>
              <a:rPr sz="1200" b="1">
                <a:solidFill>
                  <a:srgbClr val="0F6B4C"/>
                </a:solidFill>
                <a:latin typeface="Calibri"/>
              </a:rPr>
              <a:t>Anda</a:t>
            </a:r>
          </a:p>
        </p:txBody>
      </p:sp>
      <p:sp>
        <p:nvSpPr>
          <p:cNvPr id="18" name="Rounded Rectangle 17"/>
          <p:cNvSpPr/>
          <p:nvPr/>
        </p:nvSpPr>
        <p:spPr>
          <a:xfrm>
            <a:off x="7708392" y="3282696"/>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19" name="TextBox 18"/>
          <p:cNvSpPr txBox="1"/>
          <p:nvPr/>
        </p:nvSpPr>
        <p:spPr>
          <a:xfrm>
            <a:off x="7909560" y="3282696"/>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Pemborong</a:t>
            </a:r>
          </a:p>
        </p:txBody>
      </p:sp>
      <p:sp>
        <p:nvSpPr>
          <p:cNvPr id="20" name="Rounded Rectangle 19"/>
          <p:cNvSpPr/>
          <p:nvPr/>
        </p:nvSpPr>
        <p:spPr>
          <a:xfrm>
            <a:off x="7708392" y="4178808"/>
            <a:ext cx="3712464" cy="786384"/>
          </a:xfrm>
          <a:prstGeom prst="roundRect">
            <a:avLst>
              <a:gd name="adj" fmla="val 18000"/>
            </a:avLst>
          </a:prstGeom>
          <a:solidFill>
            <a:srgbClr val="0F6B4C"/>
          </a:solidFill>
          <a:ln>
            <a:noFill/>
          </a:ln>
        </p:spPr>
        <p:txBody>
          <a:bodyPr rtlCol="0" anchor="ctr"/>
          <a:lstStyle/>
          <a:p>
            <a:pPr algn="ctr"/>
          </a:p>
        </p:txBody>
      </p:sp>
      <p:sp>
        <p:nvSpPr>
          <p:cNvPr id="21" name="TextBox 20"/>
          <p:cNvSpPr txBox="1"/>
          <p:nvPr/>
        </p:nvSpPr>
        <p:spPr>
          <a:xfrm>
            <a:off x="7909560" y="4178808"/>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Pengimport</a:t>
            </a:r>
          </a:p>
        </p:txBody>
      </p:sp>
      <p:sp>
        <p:nvSpPr>
          <p:cNvPr id="22" name="Rounded Rectangle 21"/>
          <p:cNvSpPr/>
          <p:nvPr/>
        </p:nvSpPr>
        <p:spPr>
          <a:xfrm>
            <a:off x="7708392" y="5074920"/>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23" name="TextBox 22"/>
          <p:cNvSpPr txBox="1"/>
          <p:nvPr/>
        </p:nvSpPr>
        <p:spPr>
          <a:xfrm>
            <a:off x="7909560" y="5074920"/>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Peruncit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TextBox 2"/>
          <p:cNvSpPr txBox="1"/>
          <p:nvPr/>
        </p:nvSpPr>
        <p:spPr>
          <a:xfrm>
            <a:off x="566928" y="457200"/>
            <a:ext cx="6583680" cy="292608"/>
          </a:xfrm>
          <a:prstGeom prst="rect">
            <a:avLst/>
          </a:prstGeom>
          <a:noFill/>
        </p:spPr>
        <p:txBody>
          <a:bodyPr wrap="square" lIns="0" rIns="0" tIns="0" bIns="0" anchor="t"/>
          <a:lstStyle/>
          <a:p>
            <a:pPr algn="l">
              <a:spcBef>
                <a:spcPts val="0"/>
              </a:spcBef>
              <a:spcAft>
                <a:spcPts val="0"/>
              </a:spcAft>
            </a:pPr>
            <a:r>
              <a:rPr sz="1300" b="1">
                <a:solidFill>
                  <a:srgbClr val="0F6B4C"/>
                </a:solidFill>
                <a:latin typeface="Calibri"/>
              </a:rPr>
              <a:t>UNTUK PENGEKSPORT</a:t>
            </a:r>
          </a:p>
        </p:txBody>
      </p:sp>
      <p:sp>
        <p:nvSpPr>
          <p:cNvPr id="4" name="TextBox 3"/>
          <p:cNvSpPr txBox="1"/>
          <p:nvPr/>
        </p:nvSpPr>
        <p:spPr>
          <a:xfrm>
            <a:off x="566928" y="868680"/>
            <a:ext cx="6583680" cy="731520"/>
          </a:xfrm>
          <a:prstGeom prst="rect">
            <a:avLst/>
          </a:prstGeom>
          <a:noFill/>
        </p:spPr>
        <p:txBody>
          <a:bodyPr wrap="square" lIns="0" rIns="0" tIns="0" bIns="0" anchor="t"/>
          <a:lstStyle/>
          <a:p>
            <a:pPr algn="l">
              <a:spcBef>
                <a:spcPts val="0"/>
              </a:spcBef>
              <a:spcAft>
                <a:spcPts val="0"/>
              </a:spcAft>
            </a:pPr>
            <a:r>
              <a:rPr sz="4000" b="1">
                <a:solidFill>
                  <a:srgbClr val="14241D"/>
                </a:solidFill>
                <a:latin typeface="Calibri"/>
              </a:rPr>
              <a:t>Peruncit</a:t>
            </a:r>
          </a:p>
        </p:txBody>
      </p:sp>
      <p:sp>
        <p:nvSpPr>
          <p:cNvPr id="5" name="TextBox 4"/>
          <p:cNvSpPr txBox="1"/>
          <p:nvPr/>
        </p:nvSpPr>
        <p:spPr>
          <a:xfrm>
            <a:off x="566928" y="1737360"/>
            <a:ext cx="6537960" cy="1234440"/>
          </a:xfrm>
          <a:prstGeom prst="rect">
            <a:avLst/>
          </a:prstGeom>
          <a:noFill/>
        </p:spPr>
        <p:txBody>
          <a:bodyPr wrap="square" lIns="0" rIns="0" tIns="0" bIns="0" anchor="t"/>
          <a:lstStyle/>
          <a:p>
            <a:pPr algn="l">
              <a:spcBef>
                <a:spcPts val="0"/>
              </a:spcBef>
              <a:spcAft>
                <a:spcPts val="0"/>
              </a:spcAft>
            </a:pPr>
            <a:r>
              <a:rPr sz="2000" b="0">
                <a:solidFill>
                  <a:srgbClr val="14241D"/>
                </a:solidFill>
                <a:latin typeface="Calibri"/>
              </a:rPr>
              <a:t>Kedai di hujung rantaian. QR di rak ialah untuk pengguna akhir.</a:t>
            </a:r>
          </a:p>
        </p:txBody>
      </p:sp>
      <p:sp>
        <p:nvSpPr>
          <p:cNvPr id="6" name="Rounded Rectangle 5"/>
          <p:cNvSpPr/>
          <p:nvPr/>
        </p:nvSpPr>
        <p:spPr>
          <a:xfrm>
            <a:off x="621792" y="3273552"/>
            <a:ext cx="146304" cy="146304"/>
          </a:xfrm>
          <a:prstGeom prst="roundRect">
            <a:avLst>
              <a:gd name="adj" fmla="val 40000"/>
            </a:avLst>
          </a:prstGeom>
          <a:solidFill>
            <a:srgbClr val="0F6B4C"/>
          </a:solidFill>
          <a:ln>
            <a:noFill/>
          </a:ln>
        </p:spPr>
        <p:txBody>
          <a:bodyPr rtlCol="0" anchor="ctr"/>
          <a:lstStyle/>
          <a:p>
            <a:pPr algn="ctr"/>
          </a:p>
        </p:txBody>
      </p:sp>
      <p:sp>
        <p:nvSpPr>
          <p:cNvPr id="7" name="TextBox 6"/>
          <p:cNvSpPr txBox="1"/>
          <p:nvPr/>
        </p:nvSpPr>
        <p:spPr>
          <a:xfrm>
            <a:off x="960120" y="312724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Terima lot dari tangan sebelumnya, kemudian pegang baki.</a:t>
            </a:r>
          </a:p>
        </p:txBody>
      </p:sp>
      <p:sp>
        <p:nvSpPr>
          <p:cNvPr id="8" name="Rounded Rectangle 7"/>
          <p:cNvSpPr/>
          <p:nvPr/>
        </p:nvSpPr>
        <p:spPr>
          <a:xfrm>
            <a:off x="621792" y="4233672"/>
            <a:ext cx="146304" cy="146304"/>
          </a:xfrm>
          <a:prstGeom prst="roundRect">
            <a:avLst>
              <a:gd name="adj" fmla="val 40000"/>
            </a:avLst>
          </a:prstGeom>
          <a:solidFill>
            <a:srgbClr val="0F6B4C"/>
          </a:solidFill>
          <a:ln>
            <a:noFill/>
          </a:ln>
        </p:spPr>
        <p:txBody>
          <a:bodyPr rtlCol="0" anchor="ctr"/>
          <a:lstStyle/>
          <a:p>
            <a:pPr algn="ctr"/>
          </a:p>
        </p:txBody>
      </p:sp>
      <p:sp>
        <p:nvSpPr>
          <p:cNvPr id="9" name="TextBox 8"/>
          <p:cNvSpPr txBox="1"/>
          <p:nvPr/>
        </p:nvSpPr>
        <p:spPr>
          <a:xfrm>
            <a:off x="960120" y="408736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QR pada rak untuk pengguna akhir mengimbas.</a:t>
            </a:r>
          </a:p>
        </p:txBody>
      </p:sp>
      <p:sp>
        <p:nvSpPr>
          <p:cNvPr id="10" name="Rounded Rectangle 9"/>
          <p:cNvSpPr/>
          <p:nvPr/>
        </p:nvSpPr>
        <p:spPr>
          <a:xfrm>
            <a:off x="621792" y="5193792"/>
            <a:ext cx="146304" cy="146304"/>
          </a:xfrm>
          <a:prstGeom prst="roundRect">
            <a:avLst>
              <a:gd name="adj" fmla="val 40000"/>
            </a:avLst>
          </a:prstGeom>
          <a:solidFill>
            <a:srgbClr val="0F6B4C"/>
          </a:solidFill>
          <a:ln>
            <a:noFill/>
          </a:ln>
        </p:spPr>
        <p:txBody>
          <a:bodyPr rtlCol="0" anchor="ctr"/>
          <a:lstStyle/>
          <a:p>
            <a:pPr algn="ctr"/>
          </a:p>
        </p:txBody>
      </p:sp>
      <p:sp>
        <p:nvSpPr>
          <p:cNvPr id="11" name="TextBox 10"/>
          <p:cNvSpPr txBox="1"/>
          <p:nvPr/>
        </p:nvSpPr>
        <p:spPr>
          <a:xfrm>
            <a:off x="960120" y="5047488"/>
            <a:ext cx="6126480" cy="777240"/>
          </a:xfrm>
          <a:prstGeom prst="rect">
            <a:avLst/>
          </a:prstGeom>
          <a:noFill/>
        </p:spPr>
        <p:txBody>
          <a:bodyPr wrap="square" lIns="0" rIns="0" tIns="0" bIns="0" anchor="t"/>
          <a:lstStyle/>
          <a:p>
            <a:pPr algn="l">
              <a:spcBef>
                <a:spcPts val="0"/>
              </a:spcBef>
              <a:spcAft>
                <a:spcPts val="0"/>
              </a:spcAft>
            </a:pPr>
            <a:r>
              <a:rPr sz="1600" b="0">
                <a:solidFill>
                  <a:srgbClr val="14241D"/>
                </a:solidFill>
                <a:latin typeface="Calibri"/>
              </a:rPr>
              <a:t>Serahan antara syarikat dibuat dalam sistem, bukan dengan QR baharu.</a:t>
            </a:r>
          </a:p>
        </p:txBody>
      </p:sp>
      <p:sp>
        <p:nvSpPr>
          <p:cNvPr id="12" name="Rounded Rectangle 11"/>
          <p:cNvSpPr/>
          <p:nvPr/>
        </p:nvSpPr>
        <p:spPr>
          <a:xfrm>
            <a:off x="7452360" y="438912"/>
            <a:ext cx="4224528" cy="5980176"/>
          </a:xfrm>
          <a:prstGeom prst="roundRect">
            <a:avLst>
              <a:gd name="adj" fmla="val 8000"/>
            </a:avLst>
          </a:prstGeom>
          <a:solidFill>
            <a:srgbClr val="E7F0EB"/>
          </a:solidFill>
          <a:ln>
            <a:noFill/>
          </a:ln>
        </p:spPr>
        <p:txBody>
          <a:bodyPr rtlCol="0" anchor="ctr"/>
          <a:lstStyle/>
          <a:p>
            <a:pPr algn="ctr"/>
          </a:p>
        </p:txBody>
      </p:sp>
      <p:sp>
        <p:nvSpPr>
          <p:cNvPr id="13" name="TextBox 12"/>
          <p:cNvSpPr txBox="1"/>
          <p:nvPr/>
        </p:nvSpPr>
        <p:spPr>
          <a:xfrm>
            <a:off x="7708392" y="640080"/>
            <a:ext cx="3767328" cy="640080"/>
          </a:xfrm>
          <a:prstGeom prst="rect">
            <a:avLst/>
          </a:prstGeom>
          <a:noFill/>
        </p:spPr>
        <p:txBody>
          <a:bodyPr wrap="square" lIns="0" rIns="0" tIns="0" bIns="0" anchor="t"/>
          <a:lstStyle/>
          <a:p>
            <a:pPr algn="l">
              <a:spcBef>
                <a:spcPts val="0"/>
              </a:spcBef>
              <a:spcAft>
                <a:spcPts val="200"/>
              </a:spcAft>
            </a:pPr>
            <a:r>
              <a:rPr sz="1200" b="1">
                <a:solidFill>
                  <a:srgbClr val="0F6B4C"/>
                </a:solidFill>
                <a:latin typeface="Calibri"/>
              </a:rPr>
              <a:t>RANTAIAN</a:t>
            </a:r>
          </a:p>
          <a:p>
            <a:pPr algn="l">
              <a:spcBef>
                <a:spcPts val="0"/>
              </a:spcBef>
              <a:spcAft>
                <a:spcPts val="0"/>
              </a:spcAft>
            </a:pPr>
            <a:r>
              <a:rPr sz="1400" b="0">
                <a:solidFill>
                  <a:srgbClr val="5B6B63"/>
                </a:solidFill>
                <a:latin typeface="Calibri"/>
              </a:rPr>
              <a:t>Dari ladang ke kedai</a:t>
            </a:r>
          </a:p>
        </p:txBody>
      </p:sp>
      <p:sp>
        <p:nvSpPr>
          <p:cNvPr id="14" name="Rounded Rectangle 13"/>
          <p:cNvSpPr/>
          <p:nvPr/>
        </p:nvSpPr>
        <p:spPr>
          <a:xfrm>
            <a:off x="7708392" y="1490472"/>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15" name="TextBox 14"/>
          <p:cNvSpPr txBox="1"/>
          <p:nvPr/>
        </p:nvSpPr>
        <p:spPr>
          <a:xfrm>
            <a:off x="7909560" y="1490472"/>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Pengeluar</a:t>
            </a:r>
          </a:p>
        </p:txBody>
      </p:sp>
      <p:sp>
        <p:nvSpPr>
          <p:cNvPr id="16" name="Rounded Rectangle 15"/>
          <p:cNvSpPr/>
          <p:nvPr/>
        </p:nvSpPr>
        <p:spPr>
          <a:xfrm>
            <a:off x="7708392" y="2386584"/>
            <a:ext cx="3712464" cy="786384"/>
          </a:xfrm>
          <a:prstGeom prst="roundRect">
            <a:avLst>
              <a:gd name="adj" fmla="val 18000"/>
            </a:avLst>
          </a:prstGeom>
          <a:solidFill>
            <a:srgbClr val="FFFFFF"/>
          </a:solidFill>
          <a:ln w="15875">
            <a:solidFill>
              <a:srgbClr val="0F6B4C"/>
            </a:solidFill>
          </a:ln>
        </p:spPr>
        <p:txBody>
          <a:bodyPr rtlCol="0" anchor="ctr"/>
          <a:lstStyle/>
          <a:p>
            <a:pPr algn="ctr"/>
          </a:p>
        </p:txBody>
      </p:sp>
      <p:sp>
        <p:nvSpPr>
          <p:cNvPr id="17" name="TextBox 16"/>
          <p:cNvSpPr txBox="1"/>
          <p:nvPr/>
        </p:nvSpPr>
        <p:spPr>
          <a:xfrm>
            <a:off x="7909560" y="2386584"/>
            <a:ext cx="3346704" cy="786384"/>
          </a:xfrm>
          <a:prstGeom prst="rect">
            <a:avLst/>
          </a:prstGeom>
          <a:noFill/>
        </p:spPr>
        <p:txBody>
          <a:bodyPr wrap="square" lIns="0" rIns="0" tIns="0" bIns="0" anchor="ctr"/>
          <a:lstStyle/>
          <a:p>
            <a:pPr algn="l">
              <a:spcBef>
                <a:spcPts val="0"/>
              </a:spcBef>
              <a:spcAft>
                <a:spcPts val="0"/>
              </a:spcAft>
            </a:pPr>
            <a:r>
              <a:rPr sz="1800" b="1">
                <a:solidFill>
                  <a:srgbClr val="0F6B4C"/>
                </a:solidFill>
                <a:latin typeface="Calibri"/>
              </a:rPr>
              <a:t>Pengeksport</a:t>
            </a:r>
          </a:p>
          <a:p>
            <a:pPr algn="l">
              <a:spcBef>
                <a:spcPts val="100"/>
              </a:spcBef>
              <a:spcAft>
                <a:spcPts val="0"/>
              </a:spcAft>
            </a:pPr>
            <a:r>
              <a:rPr sz="1200" b="1">
                <a:solidFill>
                  <a:srgbClr val="0F6B4C"/>
                </a:solidFill>
                <a:latin typeface="Calibri"/>
              </a:rPr>
              <a:t>Anda</a:t>
            </a:r>
          </a:p>
        </p:txBody>
      </p:sp>
      <p:sp>
        <p:nvSpPr>
          <p:cNvPr id="18" name="Rounded Rectangle 17"/>
          <p:cNvSpPr/>
          <p:nvPr/>
        </p:nvSpPr>
        <p:spPr>
          <a:xfrm>
            <a:off x="7708392" y="3282696"/>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19" name="TextBox 18"/>
          <p:cNvSpPr txBox="1"/>
          <p:nvPr/>
        </p:nvSpPr>
        <p:spPr>
          <a:xfrm>
            <a:off x="7909560" y="3282696"/>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Pemborong</a:t>
            </a:r>
          </a:p>
        </p:txBody>
      </p:sp>
      <p:sp>
        <p:nvSpPr>
          <p:cNvPr id="20" name="Rounded Rectangle 19"/>
          <p:cNvSpPr/>
          <p:nvPr/>
        </p:nvSpPr>
        <p:spPr>
          <a:xfrm>
            <a:off x="7708392" y="4178808"/>
            <a:ext cx="3712464" cy="786384"/>
          </a:xfrm>
          <a:prstGeom prst="roundRect">
            <a:avLst>
              <a:gd name="adj" fmla="val 18000"/>
            </a:avLst>
          </a:prstGeom>
          <a:solidFill>
            <a:srgbClr val="FFFFFF"/>
          </a:solidFill>
          <a:ln w="15875">
            <a:solidFill>
              <a:srgbClr val="C5D7CE"/>
            </a:solidFill>
          </a:ln>
        </p:spPr>
        <p:txBody>
          <a:bodyPr rtlCol="0" anchor="ctr"/>
          <a:lstStyle/>
          <a:p>
            <a:pPr algn="ctr"/>
          </a:p>
        </p:txBody>
      </p:sp>
      <p:sp>
        <p:nvSpPr>
          <p:cNvPr id="21" name="TextBox 20"/>
          <p:cNvSpPr txBox="1"/>
          <p:nvPr/>
        </p:nvSpPr>
        <p:spPr>
          <a:xfrm>
            <a:off x="7909560" y="4178808"/>
            <a:ext cx="3346704" cy="786384"/>
          </a:xfrm>
          <a:prstGeom prst="rect">
            <a:avLst/>
          </a:prstGeom>
          <a:noFill/>
        </p:spPr>
        <p:txBody>
          <a:bodyPr wrap="square" lIns="0" rIns="0" tIns="0" bIns="0" anchor="ctr"/>
          <a:lstStyle/>
          <a:p>
            <a:pPr algn="l">
              <a:spcBef>
                <a:spcPts val="0"/>
              </a:spcBef>
              <a:spcAft>
                <a:spcPts val="0"/>
              </a:spcAft>
            </a:pPr>
            <a:r>
              <a:rPr sz="1800" b="1">
                <a:solidFill>
                  <a:srgbClr val="14241D"/>
                </a:solidFill>
                <a:latin typeface="Calibri"/>
              </a:rPr>
              <a:t>Pengimport</a:t>
            </a:r>
          </a:p>
        </p:txBody>
      </p:sp>
      <p:sp>
        <p:nvSpPr>
          <p:cNvPr id="22" name="Rounded Rectangle 21"/>
          <p:cNvSpPr/>
          <p:nvPr/>
        </p:nvSpPr>
        <p:spPr>
          <a:xfrm>
            <a:off x="7708392" y="5074920"/>
            <a:ext cx="3712464" cy="786384"/>
          </a:xfrm>
          <a:prstGeom prst="roundRect">
            <a:avLst>
              <a:gd name="adj" fmla="val 18000"/>
            </a:avLst>
          </a:prstGeom>
          <a:solidFill>
            <a:srgbClr val="0F6B4C"/>
          </a:solidFill>
          <a:ln>
            <a:noFill/>
          </a:ln>
        </p:spPr>
        <p:txBody>
          <a:bodyPr rtlCol="0" anchor="ctr"/>
          <a:lstStyle/>
          <a:p>
            <a:pPr algn="ctr"/>
          </a:p>
        </p:txBody>
      </p:sp>
      <p:sp>
        <p:nvSpPr>
          <p:cNvPr id="23" name="TextBox 22"/>
          <p:cNvSpPr txBox="1"/>
          <p:nvPr/>
        </p:nvSpPr>
        <p:spPr>
          <a:xfrm>
            <a:off x="7909560" y="5074920"/>
            <a:ext cx="3346704" cy="786384"/>
          </a:xfrm>
          <a:prstGeom prst="rect">
            <a:avLst/>
          </a:prstGeom>
          <a:noFill/>
        </p:spPr>
        <p:txBody>
          <a:bodyPr wrap="square" lIns="0" rIns="0" tIns="0" bIns="0" anchor="ctr"/>
          <a:lstStyle/>
          <a:p>
            <a:pPr algn="l">
              <a:spcBef>
                <a:spcPts val="0"/>
              </a:spcBef>
              <a:spcAft>
                <a:spcPts val="0"/>
              </a:spcAft>
            </a:pPr>
            <a:r>
              <a:rPr sz="1800" b="1">
                <a:solidFill>
                  <a:srgbClr val="FFFFFF"/>
                </a:solidFill>
                <a:latin typeface="Calibri"/>
              </a:rPr>
              <a:t>Peruncit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6B4C"/>
          </a:solidFill>
          <a:ln>
            <a:noFill/>
          </a:ln>
        </p:spPr>
        <p:txBody>
          <a:bodyPr rtlCol="0" anchor="ctr"/>
          <a:lstStyle/>
          <a:p>
            <a:pPr algn="ctr"/>
          </a:p>
        </p:txBody>
      </p:sp>
      <p:sp>
        <p:nvSpPr>
          <p:cNvPr id="3" name="TextBox 2"/>
          <p:cNvSpPr txBox="1"/>
          <p:nvPr/>
        </p:nvSpPr>
        <p:spPr>
          <a:xfrm>
            <a:off x="777240" y="1965960"/>
            <a:ext cx="10515600" cy="320040"/>
          </a:xfrm>
          <a:prstGeom prst="rect">
            <a:avLst/>
          </a:prstGeom>
          <a:noFill/>
        </p:spPr>
        <p:txBody>
          <a:bodyPr wrap="square" lIns="0" rIns="0" tIns="0" bIns="0" anchor="t"/>
          <a:lstStyle/>
          <a:p>
            <a:pPr algn="l">
              <a:spcBef>
                <a:spcPts val="0"/>
              </a:spcBef>
              <a:spcAft>
                <a:spcPts val="0"/>
              </a:spcAft>
            </a:pPr>
            <a:r>
              <a:rPr sz="1400" b="1">
                <a:solidFill>
                  <a:srgbClr val="D5E8DF"/>
                </a:solidFill>
                <a:latin typeface="Calibri"/>
              </a:rPr>
              <a:t>DEMO</a:t>
            </a:r>
          </a:p>
        </p:txBody>
      </p:sp>
      <p:sp>
        <p:nvSpPr>
          <p:cNvPr id="4" name="TextBox 3"/>
          <p:cNvSpPr txBox="1"/>
          <p:nvPr/>
        </p:nvSpPr>
        <p:spPr>
          <a:xfrm>
            <a:off x="777240" y="2377440"/>
            <a:ext cx="10515600" cy="1005840"/>
          </a:xfrm>
          <a:prstGeom prst="rect">
            <a:avLst/>
          </a:prstGeom>
          <a:noFill/>
        </p:spPr>
        <p:txBody>
          <a:bodyPr wrap="square" lIns="0" rIns="0" tIns="0" bIns="0" anchor="t"/>
          <a:lstStyle/>
          <a:p>
            <a:pPr algn="l">
              <a:spcBef>
                <a:spcPts val="0"/>
              </a:spcBef>
              <a:spcAft>
                <a:spcPts val="0"/>
              </a:spcAft>
            </a:pPr>
            <a:r>
              <a:rPr sz="4400" b="1">
                <a:solidFill>
                  <a:srgbClr val="FFFFFF"/>
                </a:solidFill>
                <a:latin typeface="Calibri"/>
              </a:rPr>
              <a:t>Demo skrin pengeksport</a:t>
            </a:r>
          </a:p>
        </p:txBody>
      </p:sp>
      <p:sp>
        <p:nvSpPr>
          <p:cNvPr id="5" name="TextBox 4"/>
          <p:cNvSpPr txBox="1"/>
          <p:nvPr/>
        </p:nvSpPr>
        <p:spPr>
          <a:xfrm>
            <a:off x="777240" y="3566160"/>
            <a:ext cx="10058400" cy="1097280"/>
          </a:xfrm>
          <a:prstGeom prst="rect">
            <a:avLst/>
          </a:prstGeom>
          <a:noFill/>
        </p:spPr>
        <p:txBody>
          <a:bodyPr wrap="square" lIns="0" rIns="0" tIns="0" bIns="0" anchor="t"/>
          <a:lstStyle/>
          <a:p>
            <a:pPr algn="l">
              <a:spcBef>
                <a:spcPts val="0"/>
              </a:spcBef>
              <a:spcAft>
                <a:spcPts val="0"/>
              </a:spcAft>
            </a:pPr>
            <a:r>
              <a:rPr sz="2200" b="0">
                <a:solidFill>
                  <a:srgbClr val="FFFFFF"/>
                </a:solidFill>
                <a:latin typeface="Calibri"/>
              </a:rPr>
              <a:t>Log masuk, profil, permohonan, kod QR, halaman awam, kemudian jualan.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    Log masuk sebagai usahawan</a:t>
            </a:r>
          </a:p>
        </p:txBody>
      </p:sp>
      <p:pic>
        <p:nvPicPr>
          <p:cNvPr id="5" name="Picture 4" descr="01-login-usahaw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Pilih USAHAWAN, kemudian masuk sebagai pengeksport.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2    Utama pengeksport</a:t>
            </a:r>
          </a:p>
        </p:txBody>
      </p:sp>
      <p:pic>
        <p:nvPicPr>
          <p:cNvPr id="5" name="Picture 4" descr="33-utama-pengeksport.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Niaga Contoh Eksport. Sembilan kod aktif, dan lot yang dipegang.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3    Profil syarikat</a:t>
            </a:r>
          </a:p>
        </p:txBody>
      </p:sp>
      <p:pic>
        <p:nvPicPr>
          <p:cNvPr id="5" name="Picture 4" descr="34-profil-pengeksport.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Jenis dalam rantaian: Pengeksport. Medan DagangNet adalah baca sahaja.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4    Keluaran</a:t>
            </a:r>
          </a:p>
        </p:txBody>
      </p:sp>
      <p:pic>
        <p:nvPicPr>
          <p:cNvPr id="5" name="Picture 4" descr="05-keluar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Keluaran syarikat disimpan di sini, sebelum permohonan.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5    Sijil</a:t>
            </a:r>
          </a:p>
        </p:txBody>
      </p:sp>
      <p:pic>
        <p:nvPicPr>
          <p:cNvPr id="5" name="Picture 4" descr="06-sijil.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Sijil disimpan di profil. Halaman awam tidak membuka fail ini.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6    Galeri</a:t>
            </a:r>
          </a:p>
        </p:txBody>
      </p:sp>
      <p:pic>
        <p:nvPicPr>
          <p:cNvPr id="5" name="Picture 4" descr="24-galeri-gambar-demo.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Gambar produk ladang contoh, untuk halaman yang pembeli imbas.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7    Senarai permohonan</a:t>
            </a:r>
          </a:p>
        </p:txBody>
      </p:sp>
      <p:pic>
        <p:nvPicPr>
          <p:cNvPr id="5" name="Picture 4" descr="08-senarai-permohon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Draf, Dalam Semakan, Diluluskan, dan Ditolak pada satu senarai.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8    Draf</a:t>
            </a:r>
          </a:p>
        </p:txBody>
      </p:sp>
      <p:pic>
        <p:nvPicPr>
          <p:cNvPr id="5" name="Picture 4" descr="09-draf.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Draf masih boleh diisi. FAMA belum menyemak.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9    Dalam semakan</a:t>
            </a:r>
          </a:p>
        </p:txBody>
      </p:sp>
      <p:pic>
        <p:nvPicPr>
          <p:cNvPr id="5" name="Picture 4" descr="10-dalam-semak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Borang dikunci semasa semakan. QR masih belum aktif.</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10    Diluluskan</a:t>
            </a:r>
          </a:p>
        </p:txBody>
      </p:sp>
      <p:pic>
        <p:nvPicPr>
          <p:cNvPr id="5" name="Picture 4" descr="11-dilulusk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FAMA meluluskan. QR jadi Aktif.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11    Ditolak</a:t>
            </a:r>
          </a:p>
        </p:txBody>
      </p:sp>
      <p:pic>
        <p:nvPicPr>
          <p:cNvPr id="5" name="Picture 4" descr="12-ditolak.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Ditolak. QR kekal belum aktif.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12    Pilih jenis</a:t>
            </a:r>
          </a:p>
        </p:txBody>
      </p:sp>
      <p:pic>
        <p:nvPicPr>
          <p:cNvPr id="5" name="Picture 4" descr="13-pilih-jenis.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Permohonan baharu: Keluaran Pertanian atau Haiwan Ternakan.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13    Borang permohonan</a:t>
            </a:r>
          </a:p>
        </p:txBody>
      </p:sp>
      <p:pic>
        <p:nvPicPr>
          <p:cNvPr id="5" name="Picture 4" descr="14-borang-permohon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Pasaran Eksport. Draf tidak mengaktifkan QR.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14    Senarai kod QR</a:t>
            </a:r>
          </a:p>
        </p:txBody>
      </p:sp>
      <p:pic>
        <p:nvPicPr>
          <p:cNvPr id="5" name="Picture 4" descr="19-senarai-qr.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Aktif boleh diimbas. Belum Aktif menyembunyikan produk.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15    Butiran kod</a:t>
            </a:r>
          </a:p>
        </p:txBody>
      </p:sp>
      <p:pic>
        <p:nvPicPr>
          <p:cNvPr id="5" name="Picture 4" descr="20-butiran-qr.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Produk, gred, pengimport, dan pautan pada kod yang aktif.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16    Muat turun QR</a:t>
            </a:r>
          </a:p>
        </p:txBody>
      </p:sp>
      <p:pic>
        <p:nvPicPr>
          <p:cNvPr id="5" name="Picture 4" descr="21-muat-turun-qr.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Muat turun untuk label. Pilih saiz dan format.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17    QR belum diaktifkan</a:t>
            </a:r>
          </a:p>
        </p:txBody>
      </p:sp>
      <p:pic>
        <p:nvPicPr>
          <p:cNvPr id="5" name="Picture 4" descr="15-qr-belum-aktif.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Pembeli hanya nampak kod, selagi FAMA belum meluluskan.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18    Halaman awam aktif</a:t>
            </a:r>
          </a:p>
        </p:txBody>
      </p:sp>
      <p:pic>
        <p:nvPicPr>
          <p:cNvPr id="5" name="Picture 4" descr="17-jejak-awam-atas.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Produk, ladang, dan destinasi terbuka selepas QR Aktif.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19    Perjalanan pembeli</a:t>
            </a:r>
          </a:p>
        </p:txBody>
      </p:sp>
      <p:pic>
        <p:nvPicPr>
          <p:cNvPr id="5" name="Picture 4" descr="35-jejak-perjalanan-awam.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Lima peranan pada satu kod: pengeluar sampai peruncit.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20    Jejak jualan</a:t>
            </a:r>
          </a:p>
        </p:txBody>
      </p:sp>
      <p:pic>
        <p:nvPicPr>
          <p:cNvPr id="5" name="Picture 4" descr="25-jualan-lot-atas.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Lot tembikai bergerak. Pengeksport memegang bahagian pada kodnya.</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21    Jualan ke hilir</a:t>
            </a:r>
          </a:p>
        </p:txBody>
      </p:sp>
      <p:pic>
        <p:nvPicPr>
          <p:cNvPr id="5" name="Picture 4" descr="26-jualan-perjalan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Penerima jenis yang sama atau ke hilir. Terima dengan Diterima.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4F7F5"/>
          </a:solidFill>
          <a:ln>
            <a:noFill/>
          </a:ln>
        </p:spPr>
        <p:txBody>
          <a:bodyPr rtlCol="0" anchor="ctr"/>
          <a:lstStyle/>
          <a:p>
            <a:pPr algn="ctr"/>
          </a:p>
        </p:txBody>
      </p:sp>
      <p:sp>
        <p:nvSpPr>
          <p:cNvPr id="3" name="Rectangle 2"/>
          <p:cNvSpPr/>
          <p:nvPr/>
        </p:nvSpPr>
        <p:spPr>
          <a:xfrm>
            <a:off x="0" y="0"/>
            <a:ext cx="12191695" cy="566928"/>
          </a:xfrm>
          <a:prstGeom prst="rect">
            <a:avLst/>
          </a:prstGeom>
          <a:solidFill>
            <a:srgbClr val="0F6B4C"/>
          </a:solidFill>
          <a:ln>
            <a:noFill/>
          </a:ln>
        </p:spPr>
        <p:txBody>
          <a:bodyPr rtlCol="0" anchor="ctr"/>
          <a:lstStyle/>
          <a:p>
            <a:pPr algn="ctr"/>
          </a:p>
        </p:txBody>
      </p:sp>
      <p:sp>
        <p:nvSpPr>
          <p:cNvPr id="4" name="TextBox 3"/>
          <p:cNvSpPr txBox="1"/>
          <p:nvPr/>
        </p:nvSpPr>
        <p:spPr>
          <a:xfrm>
            <a:off x="365760" y="0"/>
            <a:ext cx="11338560" cy="566928"/>
          </a:xfrm>
          <a:prstGeom prst="rect">
            <a:avLst/>
          </a:prstGeom>
          <a:noFill/>
        </p:spPr>
        <p:txBody>
          <a:bodyPr wrap="square" lIns="0" rIns="0" tIns="0" bIns="0" anchor="ctr"/>
          <a:lstStyle/>
          <a:p>
            <a:pPr algn="l">
              <a:spcBef>
                <a:spcPts val="0"/>
              </a:spcBef>
              <a:spcAft>
                <a:spcPts val="0"/>
              </a:spcAft>
            </a:pPr>
            <a:r>
              <a:rPr sz="2000" b="1">
                <a:solidFill>
                  <a:srgbClr val="FFFFFF"/>
                </a:solidFill>
                <a:latin typeface="Calibri"/>
              </a:rPr>
              <a:t>22    Jejak audit</a:t>
            </a:r>
          </a:p>
        </p:txBody>
      </p:sp>
      <p:pic>
        <p:nvPicPr>
          <p:cNvPr id="5" name="Picture 4" descr="22-audit-usahawan.png"/>
          <p:cNvPicPr>
            <a:picLocks noChangeAspect="1"/>
          </p:cNvPicPr>
          <p:nvPr/>
        </p:nvPicPr>
        <p:blipFill>
          <a:blip r:embed="rId2"/>
          <a:stretch>
            <a:fillRect/>
          </a:stretch>
        </p:blipFill>
        <p:spPr>
          <a:xfrm>
            <a:off x="1911553" y="713232"/>
            <a:ext cx="8368588" cy="5230368"/>
          </a:xfrm>
          <a:prstGeom prst="rect">
            <a:avLst/>
          </a:prstGeom>
        </p:spPr>
      </p:pic>
      <p:sp>
        <p:nvSpPr>
          <p:cNvPr id="6" name="Rectangle 5"/>
          <p:cNvSpPr/>
          <p:nvPr/>
        </p:nvSpPr>
        <p:spPr>
          <a:xfrm>
            <a:off x="0" y="6144768"/>
            <a:ext cx="12191695" cy="713232"/>
          </a:xfrm>
          <a:prstGeom prst="rect">
            <a:avLst/>
          </a:prstGeom>
          <a:solidFill>
            <a:srgbClr val="FFFFFF"/>
          </a:solidFill>
          <a:ln>
            <a:noFill/>
          </a:ln>
        </p:spPr>
        <p:txBody>
          <a:bodyPr rtlCol="0" anchor="ctr"/>
          <a:lstStyle/>
          <a:p>
            <a:pPr algn="ctr"/>
          </a:p>
        </p:txBody>
      </p:sp>
      <p:sp>
        <p:nvSpPr>
          <p:cNvPr id="7" name="TextBox 6"/>
          <p:cNvSpPr txBox="1"/>
          <p:nvPr/>
        </p:nvSpPr>
        <p:spPr>
          <a:xfrm>
            <a:off x="411480" y="6144768"/>
            <a:ext cx="11338560" cy="713232"/>
          </a:xfrm>
          <a:prstGeom prst="rect">
            <a:avLst/>
          </a:prstGeom>
          <a:noFill/>
        </p:spPr>
        <p:txBody>
          <a:bodyPr wrap="square" lIns="0" rIns="0" tIns="0" bIns="0" anchor="ctr"/>
          <a:lstStyle/>
          <a:p>
            <a:pPr algn="l">
              <a:spcBef>
                <a:spcPts val="0"/>
              </a:spcBef>
              <a:spcAft>
                <a:spcPts val="0"/>
              </a:spcAft>
            </a:pPr>
            <a:r>
              <a:rPr sz="1600" b="0">
                <a:solidFill>
                  <a:srgbClr val="14241D"/>
                </a:solidFill>
                <a:latin typeface="Calibri"/>
              </a:rPr>
              <a:t>Hantar dan keputusan tinggal pada jejak audit syarikat.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6B4C"/>
          </a:solidFill>
          <a:ln>
            <a:noFill/>
          </a:ln>
        </p:spPr>
        <p:txBody>
          <a:bodyPr rtlCol="0" anchor="ctr"/>
          <a:lstStyle/>
          <a:p>
            <a:pPr algn="ctr"/>
          </a:p>
        </p:txBody>
      </p:sp>
      <p:sp>
        <p:nvSpPr>
          <p:cNvPr id="3" name="TextBox 2"/>
          <p:cNvSpPr txBox="1"/>
          <p:nvPr/>
        </p:nvSpPr>
        <p:spPr>
          <a:xfrm>
            <a:off x="777240" y="1325880"/>
            <a:ext cx="10515600" cy="320040"/>
          </a:xfrm>
          <a:prstGeom prst="rect">
            <a:avLst/>
          </a:prstGeom>
          <a:noFill/>
        </p:spPr>
        <p:txBody>
          <a:bodyPr wrap="square" lIns="0" rIns="0" tIns="0" bIns="0" anchor="t"/>
          <a:lstStyle/>
          <a:p>
            <a:pPr algn="l">
              <a:spcBef>
                <a:spcPts val="0"/>
              </a:spcBef>
              <a:spcAft>
                <a:spcPts val="0"/>
              </a:spcAft>
            </a:pPr>
            <a:r>
              <a:rPr sz="1400" b="1">
                <a:solidFill>
                  <a:srgbClr val="D5E8DF"/>
                </a:solidFill>
                <a:latin typeface="Calibri"/>
              </a:rPr>
              <a:t>SISTEM JEJAK GPL</a:t>
            </a:r>
          </a:p>
        </p:txBody>
      </p:sp>
      <p:sp>
        <p:nvSpPr>
          <p:cNvPr id="4" name="TextBox 3"/>
          <p:cNvSpPr txBox="1"/>
          <p:nvPr/>
        </p:nvSpPr>
        <p:spPr>
          <a:xfrm>
            <a:off x="777240" y="1783080"/>
            <a:ext cx="10607040" cy="2194560"/>
          </a:xfrm>
          <a:prstGeom prst="rect">
            <a:avLst/>
          </a:prstGeom>
          <a:noFill/>
        </p:spPr>
        <p:txBody>
          <a:bodyPr wrap="square" lIns="0" rIns="0" tIns="0" bIns="0" anchor="t"/>
          <a:lstStyle/>
          <a:p>
            <a:pPr algn="l">
              <a:spcBef>
                <a:spcPts val="0"/>
              </a:spcBef>
              <a:spcAft>
                <a:spcPts val="0"/>
              </a:spcAft>
            </a:pPr>
            <a:r>
              <a:rPr sz="4000" b="1">
                <a:solidFill>
                  <a:srgbClr val="FFFFFF"/>
                </a:solidFill>
                <a:latin typeface="Calibri"/>
              </a:rPr>
              <a:t>Satu kod.</a:t>
            </a:r>
          </a:p>
          <a:p>
            <a:pPr algn="l">
              <a:spcBef>
                <a:spcPts val="0"/>
              </a:spcBef>
              <a:spcAft>
                <a:spcPts val="0"/>
              </a:spcAft>
            </a:pPr>
            <a:r>
              <a:rPr sz="4000" b="1">
                <a:solidFill>
                  <a:srgbClr val="FFFFFF"/>
                </a:solidFill>
                <a:latin typeface="Calibri"/>
              </a:rPr>
              <a:t>Setiap tangan.</a:t>
            </a:r>
          </a:p>
          <a:p>
            <a:pPr algn="l">
              <a:spcBef>
                <a:spcPts val="0"/>
              </a:spcBef>
              <a:spcAft>
                <a:spcPts val="0"/>
              </a:spcAft>
            </a:pPr>
            <a:r>
              <a:rPr sz="4000" b="1">
                <a:solidFill>
                  <a:srgbClr val="FFFFFF"/>
                </a:solidFill>
                <a:latin typeface="Calibri"/>
              </a:rPr>
              <a:t>Pembeli imbas.</a:t>
            </a:r>
          </a:p>
        </p:txBody>
      </p:sp>
      <p:sp>
        <p:nvSpPr>
          <p:cNvPr id="5" name="Rounded Rectangle 4"/>
          <p:cNvSpPr/>
          <p:nvPr/>
        </p:nvSpPr>
        <p:spPr>
          <a:xfrm>
            <a:off x="774039" y="5074920"/>
            <a:ext cx="2011680" cy="713232"/>
          </a:xfrm>
          <a:prstGeom prst="roundRect">
            <a:avLst>
              <a:gd name="adj" fmla="val 20000"/>
            </a:avLst>
          </a:prstGeom>
          <a:noFill/>
          <a:ln w="19050">
            <a:solidFill>
              <a:srgbClr val="9FD0BB"/>
            </a:solidFill>
          </a:ln>
        </p:spPr>
        <p:txBody>
          <a:bodyPr rtlCol="0" anchor="ctr"/>
          <a:lstStyle/>
          <a:p>
            <a:pPr algn="ctr"/>
          </a:p>
        </p:txBody>
      </p:sp>
      <p:sp>
        <p:nvSpPr>
          <p:cNvPr id="6" name="TextBox 5"/>
          <p:cNvSpPr txBox="1"/>
          <p:nvPr/>
        </p:nvSpPr>
        <p:spPr>
          <a:xfrm>
            <a:off x="847191" y="507492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Pengeluar</a:t>
            </a:r>
          </a:p>
        </p:txBody>
      </p:sp>
      <p:sp>
        <p:nvSpPr>
          <p:cNvPr id="7" name="Rounded Rectangle 6"/>
          <p:cNvSpPr/>
          <p:nvPr/>
        </p:nvSpPr>
        <p:spPr>
          <a:xfrm>
            <a:off x="2932023" y="5074920"/>
            <a:ext cx="2011680" cy="713232"/>
          </a:xfrm>
          <a:prstGeom prst="roundRect">
            <a:avLst>
              <a:gd name="adj" fmla="val 20000"/>
            </a:avLst>
          </a:prstGeom>
          <a:solidFill>
            <a:srgbClr val="FFFFFF"/>
          </a:solidFill>
          <a:ln>
            <a:noFill/>
          </a:ln>
        </p:spPr>
        <p:txBody>
          <a:bodyPr rtlCol="0" anchor="ctr"/>
          <a:lstStyle/>
          <a:p>
            <a:pPr algn="ctr"/>
          </a:p>
        </p:txBody>
      </p:sp>
      <p:sp>
        <p:nvSpPr>
          <p:cNvPr id="8" name="TextBox 7"/>
          <p:cNvSpPr txBox="1"/>
          <p:nvPr/>
        </p:nvSpPr>
        <p:spPr>
          <a:xfrm>
            <a:off x="3005175" y="5074920"/>
            <a:ext cx="1865376" cy="713232"/>
          </a:xfrm>
          <a:prstGeom prst="rect">
            <a:avLst/>
          </a:prstGeom>
          <a:noFill/>
        </p:spPr>
        <p:txBody>
          <a:bodyPr wrap="square" lIns="0" rIns="0" tIns="0" bIns="0" anchor="ctr"/>
          <a:lstStyle/>
          <a:p>
            <a:pPr algn="ctr">
              <a:spcBef>
                <a:spcPts val="0"/>
              </a:spcBef>
              <a:spcAft>
                <a:spcPts val="0"/>
              </a:spcAft>
            </a:pPr>
            <a:r>
              <a:rPr sz="1500" b="1">
                <a:solidFill>
                  <a:srgbClr val="0F6B4C"/>
                </a:solidFill>
                <a:latin typeface="Calibri"/>
              </a:rPr>
              <a:t>Pengeksport</a:t>
            </a:r>
          </a:p>
          <a:p>
            <a:pPr algn="ctr">
              <a:spcBef>
                <a:spcPts val="0"/>
              </a:spcBef>
              <a:spcAft>
                <a:spcPts val="0"/>
              </a:spcAft>
            </a:pPr>
            <a:r>
              <a:rPr sz="1100" b="1">
                <a:solidFill>
                  <a:srgbClr val="0F6B4C"/>
                </a:solidFill>
                <a:latin typeface="Calibri"/>
              </a:rPr>
              <a:t>Anda</a:t>
            </a:r>
          </a:p>
        </p:txBody>
      </p:sp>
      <p:sp>
        <p:nvSpPr>
          <p:cNvPr id="9" name="Rounded Rectangle 8"/>
          <p:cNvSpPr/>
          <p:nvPr/>
        </p:nvSpPr>
        <p:spPr>
          <a:xfrm>
            <a:off x="5090007" y="5074920"/>
            <a:ext cx="2011680" cy="713232"/>
          </a:xfrm>
          <a:prstGeom prst="roundRect">
            <a:avLst>
              <a:gd name="adj" fmla="val 20000"/>
            </a:avLst>
          </a:prstGeom>
          <a:noFill/>
          <a:ln w="19050">
            <a:solidFill>
              <a:srgbClr val="9FD0BB"/>
            </a:solidFill>
          </a:ln>
        </p:spPr>
        <p:txBody>
          <a:bodyPr rtlCol="0" anchor="ctr"/>
          <a:lstStyle/>
          <a:p>
            <a:pPr algn="ctr"/>
          </a:p>
        </p:txBody>
      </p:sp>
      <p:sp>
        <p:nvSpPr>
          <p:cNvPr id="10" name="TextBox 9"/>
          <p:cNvSpPr txBox="1"/>
          <p:nvPr/>
        </p:nvSpPr>
        <p:spPr>
          <a:xfrm>
            <a:off x="5163159" y="507492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Pemborong</a:t>
            </a:r>
          </a:p>
        </p:txBody>
      </p:sp>
      <p:sp>
        <p:nvSpPr>
          <p:cNvPr id="11" name="Rounded Rectangle 10"/>
          <p:cNvSpPr/>
          <p:nvPr/>
        </p:nvSpPr>
        <p:spPr>
          <a:xfrm>
            <a:off x="7247991" y="5074920"/>
            <a:ext cx="2011680" cy="713232"/>
          </a:xfrm>
          <a:prstGeom prst="roundRect">
            <a:avLst>
              <a:gd name="adj" fmla="val 20000"/>
            </a:avLst>
          </a:prstGeom>
          <a:noFill/>
          <a:ln w="19050">
            <a:solidFill>
              <a:srgbClr val="9FD0BB"/>
            </a:solidFill>
          </a:ln>
        </p:spPr>
        <p:txBody>
          <a:bodyPr rtlCol="0" anchor="ctr"/>
          <a:lstStyle/>
          <a:p>
            <a:pPr algn="ctr"/>
          </a:p>
        </p:txBody>
      </p:sp>
      <p:sp>
        <p:nvSpPr>
          <p:cNvPr id="12" name="TextBox 11"/>
          <p:cNvSpPr txBox="1"/>
          <p:nvPr/>
        </p:nvSpPr>
        <p:spPr>
          <a:xfrm>
            <a:off x="7321143" y="507492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Pengimport</a:t>
            </a:r>
          </a:p>
        </p:txBody>
      </p:sp>
      <p:sp>
        <p:nvSpPr>
          <p:cNvPr id="13" name="Rounded Rectangle 12"/>
          <p:cNvSpPr/>
          <p:nvPr/>
        </p:nvSpPr>
        <p:spPr>
          <a:xfrm>
            <a:off x="9405975" y="5074920"/>
            <a:ext cx="2011680" cy="713232"/>
          </a:xfrm>
          <a:prstGeom prst="roundRect">
            <a:avLst>
              <a:gd name="adj" fmla="val 20000"/>
            </a:avLst>
          </a:prstGeom>
          <a:noFill/>
          <a:ln w="19050">
            <a:solidFill>
              <a:srgbClr val="9FD0BB"/>
            </a:solidFill>
          </a:ln>
        </p:spPr>
        <p:txBody>
          <a:bodyPr rtlCol="0" anchor="ctr"/>
          <a:lstStyle/>
          <a:p>
            <a:pPr algn="ctr"/>
          </a:p>
        </p:txBody>
      </p:sp>
      <p:sp>
        <p:nvSpPr>
          <p:cNvPr id="14" name="TextBox 13"/>
          <p:cNvSpPr txBox="1"/>
          <p:nvPr/>
        </p:nvSpPr>
        <p:spPr>
          <a:xfrm>
            <a:off x="9479127" y="5074920"/>
            <a:ext cx="1865376" cy="713232"/>
          </a:xfrm>
          <a:prstGeom prst="rect">
            <a:avLst/>
          </a:prstGeom>
          <a:noFill/>
        </p:spPr>
        <p:txBody>
          <a:bodyPr wrap="square" lIns="0" rIns="0" tIns="0" bIns="0" anchor="ctr"/>
          <a:lstStyle/>
          <a:p>
            <a:pPr algn="ctr">
              <a:spcBef>
                <a:spcPts val="0"/>
              </a:spcBef>
              <a:spcAft>
                <a:spcPts val="0"/>
              </a:spcAft>
            </a:pPr>
            <a:r>
              <a:rPr sz="1500" b="1">
                <a:solidFill>
                  <a:srgbClr val="FFFFFF"/>
                </a:solidFill>
                <a:latin typeface="Calibri"/>
              </a:rPr>
              <a:t>Peruncit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 Jejak GPL — Untuk pengeksport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